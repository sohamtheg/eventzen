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27"/>
  </p:notesMasterIdLst>
  <p:handoutMasterIdLst>
    <p:handoutMasterId r:id="rId28"/>
  </p:handoutMasterIdLst>
  <p:sldIdLst>
    <p:sldId id="410" r:id="rId5"/>
    <p:sldId id="383" r:id="rId6"/>
    <p:sldId id="420" r:id="rId7"/>
    <p:sldId id="409" r:id="rId8"/>
    <p:sldId id="389" r:id="rId9"/>
    <p:sldId id="408" r:id="rId10"/>
    <p:sldId id="421" r:id="rId11"/>
    <p:sldId id="422" r:id="rId12"/>
    <p:sldId id="418" r:id="rId13"/>
    <p:sldId id="419" r:id="rId14"/>
    <p:sldId id="391" r:id="rId15"/>
    <p:sldId id="411" r:id="rId16"/>
    <p:sldId id="417" r:id="rId17"/>
    <p:sldId id="397" r:id="rId18"/>
    <p:sldId id="405" r:id="rId19"/>
    <p:sldId id="413" r:id="rId20"/>
    <p:sldId id="414" r:id="rId21"/>
    <p:sldId id="415" r:id="rId22"/>
    <p:sldId id="407" r:id="rId23"/>
    <p:sldId id="404" r:id="rId24"/>
    <p:sldId id="416" r:id="rId25"/>
    <p:sldId id="39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6B59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70" autoAdjust="0"/>
    <p:restoredTop sz="96327" autoAdjust="0"/>
  </p:normalViewPr>
  <p:slideViewPr>
    <p:cSldViewPr snapToGrid="0">
      <p:cViewPr varScale="1">
        <p:scale>
          <a:sx n="101" d="100"/>
          <a:sy n="101" d="100"/>
        </p:scale>
        <p:origin x="762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86D26B-27D9-4B2C-867C-1E753E93583D}" type="doc">
      <dgm:prSet loTypeId="urn:microsoft.com/office/officeart/2005/8/layout/venn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B06A9D7-B6DA-4EAB-A3D4-D276750D700F}">
      <dgm:prSet/>
      <dgm:spPr>
        <a:solidFill>
          <a:srgbClr val="92D050"/>
        </a:solidFill>
      </dgm:spPr>
      <dgm:t>
        <a:bodyPr/>
        <a:lstStyle/>
        <a:p>
          <a:r>
            <a:rPr lang="en-US" b="1" i="1" u="sng" dirty="0"/>
            <a:t>User Authentication &amp; attendee Service </a:t>
          </a:r>
          <a:endParaRPr lang="en-US" dirty="0"/>
        </a:p>
      </dgm:t>
    </dgm:pt>
    <dgm:pt modelId="{91BE6872-51BA-46EF-91A3-932B04F014CA}" type="parTrans" cxnId="{C8AAB1BE-FE00-44F1-9F18-783448456D20}">
      <dgm:prSet/>
      <dgm:spPr/>
      <dgm:t>
        <a:bodyPr/>
        <a:lstStyle/>
        <a:p>
          <a:endParaRPr lang="en-US"/>
        </a:p>
      </dgm:t>
    </dgm:pt>
    <dgm:pt modelId="{363B32DC-7CFA-4DAC-85BC-D40D92572E48}" type="sibTrans" cxnId="{C8AAB1BE-FE00-44F1-9F18-783448456D20}">
      <dgm:prSet/>
      <dgm:spPr/>
      <dgm:t>
        <a:bodyPr/>
        <a:lstStyle/>
        <a:p>
          <a:endParaRPr lang="en-US"/>
        </a:p>
      </dgm:t>
    </dgm:pt>
    <dgm:pt modelId="{3A42462B-6528-4435-863D-862B1FF416C0}">
      <dgm:prSet/>
      <dgm:spPr>
        <a:solidFill>
          <a:srgbClr val="00B0F0"/>
        </a:solidFill>
      </dgm:spPr>
      <dgm:t>
        <a:bodyPr/>
        <a:lstStyle/>
        <a:p>
          <a:pPr>
            <a:buNone/>
          </a:pPr>
          <a:r>
            <a:rPr lang="en-US" b="1" i="1" u="sng" dirty="0"/>
            <a:t>Venue &amp; vendor Management Service</a:t>
          </a:r>
          <a:endParaRPr lang="en-US" dirty="0"/>
        </a:p>
      </dgm:t>
    </dgm:pt>
    <dgm:pt modelId="{BDA1D13E-FB59-476C-9ACC-FD5A38621079}" type="parTrans" cxnId="{8837B41B-7B54-4A4A-B2F6-38FADC2CFD5F}">
      <dgm:prSet/>
      <dgm:spPr/>
      <dgm:t>
        <a:bodyPr/>
        <a:lstStyle/>
        <a:p>
          <a:endParaRPr lang="en-IN"/>
        </a:p>
      </dgm:t>
    </dgm:pt>
    <dgm:pt modelId="{8B9B2015-477C-4F0F-9FA0-121C9D1236B1}" type="sibTrans" cxnId="{8837B41B-7B54-4A4A-B2F6-38FADC2CFD5F}">
      <dgm:prSet/>
      <dgm:spPr/>
      <dgm:t>
        <a:bodyPr/>
        <a:lstStyle/>
        <a:p>
          <a:endParaRPr lang="en-IN"/>
        </a:p>
      </dgm:t>
    </dgm:pt>
    <dgm:pt modelId="{B8B18293-A857-4E1D-874A-B63C13713A3D}">
      <dgm:prSet/>
      <dgm:spPr>
        <a:solidFill>
          <a:srgbClr val="FF0000"/>
        </a:solidFill>
      </dgm:spPr>
      <dgm:t>
        <a:bodyPr/>
        <a:lstStyle/>
        <a:p>
          <a:pPr>
            <a:buNone/>
          </a:pPr>
          <a:r>
            <a:rPr lang="en-US" b="1" i="1" u="sng" dirty="0"/>
            <a:t>Events &amp; Booking Service</a:t>
          </a:r>
          <a:endParaRPr lang="en-US" dirty="0"/>
        </a:p>
      </dgm:t>
    </dgm:pt>
    <dgm:pt modelId="{87F37711-4E6C-45D8-B2C2-ADBAFC9C71ED}" type="parTrans" cxnId="{471037AA-C3D7-460F-9A80-065E1C930FB1}">
      <dgm:prSet/>
      <dgm:spPr/>
      <dgm:t>
        <a:bodyPr/>
        <a:lstStyle/>
        <a:p>
          <a:endParaRPr lang="en-IN"/>
        </a:p>
      </dgm:t>
    </dgm:pt>
    <dgm:pt modelId="{06689AFB-71F9-4EA7-9B76-7BCA25A99932}" type="sibTrans" cxnId="{471037AA-C3D7-460F-9A80-065E1C930FB1}">
      <dgm:prSet/>
      <dgm:spPr/>
      <dgm:t>
        <a:bodyPr/>
        <a:lstStyle/>
        <a:p>
          <a:endParaRPr lang="en-IN"/>
        </a:p>
      </dgm:t>
    </dgm:pt>
    <dgm:pt modelId="{E54C6D53-DDA9-4480-950A-A7CB10BC389F}" type="pres">
      <dgm:prSet presAssocID="{0F86D26B-27D9-4B2C-867C-1E753E93583D}" presName="Name0" presStyleCnt="0">
        <dgm:presLayoutVars>
          <dgm:dir/>
          <dgm:resizeHandles val="exact"/>
        </dgm:presLayoutVars>
      </dgm:prSet>
      <dgm:spPr/>
    </dgm:pt>
    <dgm:pt modelId="{05B749BB-DFD2-4F24-9D00-8B5ED94028AC}" type="pres">
      <dgm:prSet presAssocID="{FB06A9D7-B6DA-4EAB-A3D4-D276750D700F}" presName="Name5" presStyleLbl="vennNode1" presStyleIdx="0" presStyleCnt="3">
        <dgm:presLayoutVars>
          <dgm:bulletEnabled val="1"/>
        </dgm:presLayoutVars>
      </dgm:prSet>
      <dgm:spPr/>
    </dgm:pt>
    <dgm:pt modelId="{E13B8A6F-0A2A-4FF3-90CE-CD77C5122CE4}" type="pres">
      <dgm:prSet presAssocID="{363B32DC-7CFA-4DAC-85BC-D40D92572E48}" presName="space" presStyleCnt="0"/>
      <dgm:spPr/>
    </dgm:pt>
    <dgm:pt modelId="{57BF12DD-9360-43FE-A609-24B59518939D}" type="pres">
      <dgm:prSet presAssocID="{3A42462B-6528-4435-863D-862B1FF416C0}" presName="Name5" presStyleLbl="vennNode1" presStyleIdx="1" presStyleCnt="3">
        <dgm:presLayoutVars>
          <dgm:bulletEnabled val="1"/>
        </dgm:presLayoutVars>
      </dgm:prSet>
      <dgm:spPr/>
    </dgm:pt>
    <dgm:pt modelId="{3B022683-431F-4D16-A6C4-E29E9CA1FC97}" type="pres">
      <dgm:prSet presAssocID="{8B9B2015-477C-4F0F-9FA0-121C9D1236B1}" presName="space" presStyleCnt="0"/>
      <dgm:spPr/>
    </dgm:pt>
    <dgm:pt modelId="{D4E5FB85-25CF-436B-A96D-0963FCD7CACA}" type="pres">
      <dgm:prSet presAssocID="{B8B18293-A857-4E1D-874A-B63C13713A3D}" presName="Name5" presStyleLbl="vennNode1" presStyleIdx="2" presStyleCnt="3">
        <dgm:presLayoutVars>
          <dgm:bulletEnabled val="1"/>
        </dgm:presLayoutVars>
      </dgm:prSet>
      <dgm:spPr/>
    </dgm:pt>
  </dgm:ptLst>
  <dgm:cxnLst>
    <dgm:cxn modelId="{AA733509-8DBC-493B-BB28-5E694635E057}" type="presOf" srcId="{0F86D26B-27D9-4B2C-867C-1E753E93583D}" destId="{E54C6D53-DDA9-4480-950A-A7CB10BC389F}" srcOrd="0" destOrd="0" presId="urn:microsoft.com/office/officeart/2005/8/layout/venn3"/>
    <dgm:cxn modelId="{8837B41B-7B54-4A4A-B2F6-38FADC2CFD5F}" srcId="{0F86D26B-27D9-4B2C-867C-1E753E93583D}" destId="{3A42462B-6528-4435-863D-862B1FF416C0}" srcOrd="1" destOrd="0" parTransId="{BDA1D13E-FB59-476C-9ACC-FD5A38621079}" sibTransId="{8B9B2015-477C-4F0F-9FA0-121C9D1236B1}"/>
    <dgm:cxn modelId="{BB1C7F3D-362B-4F5F-B440-43B416C3F45D}" type="presOf" srcId="{FB06A9D7-B6DA-4EAB-A3D4-D276750D700F}" destId="{05B749BB-DFD2-4F24-9D00-8B5ED94028AC}" srcOrd="0" destOrd="0" presId="urn:microsoft.com/office/officeart/2005/8/layout/venn3"/>
    <dgm:cxn modelId="{68168B6C-8A27-4F5E-BF03-25396BA92B24}" type="presOf" srcId="{3A42462B-6528-4435-863D-862B1FF416C0}" destId="{57BF12DD-9360-43FE-A609-24B59518939D}" srcOrd="0" destOrd="0" presId="urn:microsoft.com/office/officeart/2005/8/layout/venn3"/>
    <dgm:cxn modelId="{F74D3F83-804F-4B9A-BF67-DB910907F24E}" type="presOf" srcId="{B8B18293-A857-4E1D-874A-B63C13713A3D}" destId="{D4E5FB85-25CF-436B-A96D-0963FCD7CACA}" srcOrd="0" destOrd="0" presId="urn:microsoft.com/office/officeart/2005/8/layout/venn3"/>
    <dgm:cxn modelId="{471037AA-C3D7-460F-9A80-065E1C930FB1}" srcId="{0F86D26B-27D9-4B2C-867C-1E753E93583D}" destId="{B8B18293-A857-4E1D-874A-B63C13713A3D}" srcOrd="2" destOrd="0" parTransId="{87F37711-4E6C-45D8-B2C2-ADBAFC9C71ED}" sibTransId="{06689AFB-71F9-4EA7-9B76-7BCA25A99932}"/>
    <dgm:cxn modelId="{C8AAB1BE-FE00-44F1-9F18-783448456D20}" srcId="{0F86D26B-27D9-4B2C-867C-1E753E93583D}" destId="{FB06A9D7-B6DA-4EAB-A3D4-D276750D700F}" srcOrd="0" destOrd="0" parTransId="{91BE6872-51BA-46EF-91A3-932B04F014CA}" sibTransId="{363B32DC-7CFA-4DAC-85BC-D40D92572E48}"/>
    <dgm:cxn modelId="{1A2919FB-9254-4D73-99DB-05B466754FF5}" type="presParOf" srcId="{E54C6D53-DDA9-4480-950A-A7CB10BC389F}" destId="{05B749BB-DFD2-4F24-9D00-8B5ED94028AC}" srcOrd="0" destOrd="0" presId="urn:microsoft.com/office/officeart/2005/8/layout/venn3"/>
    <dgm:cxn modelId="{94912238-9B13-450A-B2CB-75C2D8985167}" type="presParOf" srcId="{E54C6D53-DDA9-4480-950A-A7CB10BC389F}" destId="{E13B8A6F-0A2A-4FF3-90CE-CD77C5122CE4}" srcOrd="1" destOrd="0" presId="urn:microsoft.com/office/officeart/2005/8/layout/venn3"/>
    <dgm:cxn modelId="{EC4D4249-C0AF-49BF-89E7-66ACFBFB0B3B}" type="presParOf" srcId="{E54C6D53-DDA9-4480-950A-A7CB10BC389F}" destId="{57BF12DD-9360-43FE-A609-24B59518939D}" srcOrd="2" destOrd="0" presId="urn:microsoft.com/office/officeart/2005/8/layout/venn3"/>
    <dgm:cxn modelId="{EFB75549-80D8-4171-8618-2CC6B0A14ED5}" type="presParOf" srcId="{E54C6D53-DDA9-4480-950A-A7CB10BC389F}" destId="{3B022683-431F-4D16-A6C4-E29E9CA1FC97}" srcOrd="3" destOrd="0" presId="urn:microsoft.com/office/officeart/2005/8/layout/venn3"/>
    <dgm:cxn modelId="{2CA62FC6-6B10-4237-8262-C92E6FD0F386}" type="presParOf" srcId="{E54C6D53-DDA9-4480-950A-A7CB10BC389F}" destId="{D4E5FB85-25CF-436B-A96D-0963FCD7CACA}" srcOrd="4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86D26B-27D9-4B2C-867C-1E753E93583D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B06A9D7-B6DA-4EAB-A3D4-D276750D700F}">
      <dgm:prSet/>
      <dgm:spPr>
        <a:solidFill>
          <a:srgbClr val="92D050"/>
        </a:solidFill>
      </dgm:spPr>
      <dgm:t>
        <a:bodyPr/>
        <a:lstStyle/>
        <a:p>
          <a:r>
            <a:rPr lang="en-US" b="1" i="1" u="sng" dirty="0"/>
            <a:t>User Authentication &amp; attendee Service </a:t>
          </a:r>
          <a:endParaRPr lang="en-US" dirty="0"/>
        </a:p>
      </dgm:t>
    </dgm:pt>
    <dgm:pt modelId="{91BE6872-51BA-46EF-91A3-932B04F014CA}" type="parTrans" cxnId="{C8AAB1BE-FE00-44F1-9F18-783448456D20}">
      <dgm:prSet/>
      <dgm:spPr/>
      <dgm:t>
        <a:bodyPr/>
        <a:lstStyle/>
        <a:p>
          <a:endParaRPr lang="en-US"/>
        </a:p>
      </dgm:t>
    </dgm:pt>
    <dgm:pt modelId="{363B32DC-7CFA-4DAC-85BC-D40D92572E48}" type="sibTrans" cxnId="{C8AAB1BE-FE00-44F1-9F18-783448456D20}">
      <dgm:prSet/>
      <dgm:spPr/>
      <dgm:t>
        <a:bodyPr/>
        <a:lstStyle/>
        <a:p>
          <a:endParaRPr lang="en-US"/>
        </a:p>
      </dgm:t>
    </dgm:pt>
    <dgm:pt modelId="{3A42462B-6528-4435-863D-862B1FF416C0}">
      <dgm:prSet/>
      <dgm:spPr>
        <a:solidFill>
          <a:srgbClr val="00B0F0"/>
        </a:solidFill>
      </dgm:spPr>
      <dgm:t>
        <a:bodyPr/>
        <a:lstStyle/>
        <a:p>
          <a:pPr>
            <a:buNone/>
          </a:pPr>
          <a:r>
            <a:rPr lang="en-US" b="1" i="1" u="sng" dirty="0"/>
            <a:t>Venue &amp; vendor Management Service</a:t>
          </a:r>
          <a:endParaRPr lang="en-US" dirty="0"/>
        </a:p>
      </dgm:t>
    </dgm:pt>
    <dgm:pt modelId="{BDA1D13E-FB59-476C-9ACC-FD5A38621079}" type="parTrans" cxnId="{8837B41B-7B54-4A4A-B2F6-38FADC2CFD5F}">
      <dgm:prSet/>
      <dgm:spPr/>
      <dgm:t>
        <a:bodyPr/>
        <a:lstStyle/>
        <a:p>
          <a:endParaRPr lang="en-IN"/>
        </a:p>
      </dgm:t>
    </dgm:pt>
    <dgm:pt modelId="{8B9B2015-477C-4F0F-9FA0-121C9D1236B1}" type="sibTrans" cxnId="{8837B41B-7B54-4A4A-B2F6-38FADC2CFD5F}">
      <dgm:prSet/>
      <dgm:spPr/>
      <dgm:t>
        <a:bodyPr/>
        <a:lstStyle/>
        <a:p>
          <a:endParaRPr lang="en-IN"/>
        </a:p>
      </dgm:t>
    </dgm:pt>
    <dgm:pt modelId="{B8B18293-A857-4E1D-874A-B63C13713A3D}">
      <dgm:prSet/>
      <dgm:spPr>
        <a:solidFill>
          <a:srgbClr val="FF0000"/>
        </a:solidFill>
      </dgm:spPr>
      <dgm:t>
        <a:bodyPr/>
        <a:lstStyle/>
        <a:p>
          <a:pPr>
            <a:buNone/>
          </a:pPr>
          <a:r>
            <a:rPr lang="en-US" b="1" i="1" u="sng" dirty="0"/>
            <a:t>Events &amp; Booking Service</a:t>
          </a:r>
          <a:endParaRPr lang="en-US" dirty="0"/>
        </a:p>
      </dgm:t>
    </dgm:pt>
    <dgm:pt modelId="{87F37711-4E6C-45D8-B2C2-ADBAFC9C71ED}" type="parTrans" cxnId="{471037AA-C3D7-460F-9A80-065E1C930FB1}">
      <dgm:prSet/>
      <dgm:spPr/>
      <dgm:t>
        <a:bodyPr/>
        <a:lstStyle/>
        <a:p>
          <a:endParaRPr lang="en-IN"/>
        </a:p>
      </dgm:t>
    </dgm:pt>
    <dgm:pt modelId="{06689AFB-71F9-4EA7-9B76-7BCA25A99932}" type="sibTrans" cxnId="{471037AA-C3D7-460F-9A80-065E1C930FB1}">
      <dgm:prSet/>
      <dgm:spPr/>
      <dgm:t>
        <a:bodyPr/>
        <a:lstStyle/>
        <a:p>
          <a:endParaRPr lang="en-IN"/>
        </a:p>
      </dgm:t>
    </dgm:pt>
    <dgm:pt modelId="{C34E33BC-8EEF-42C8-8E39-E94F7BD8BD52}" type="pres">
      <dgm:prSet presAssocID="{0F86D26B-27D9-4B2C-867C-1E753E93583D}" presName="compositeShape" presStyleCnt="0">
        <dgm:presLayoutVars>
          <dgm:chMax val="7"/>
          <dgm:dir/>
          <dgm:resizeHandles val="exact"/>
        </dgm:presLayoutVars>
      </dgm:prSet>
      <dgm:spPr/>
    </dgm:pt>
    <dgm:pt modelId="{9C8C4EE1-F084-4803-A2B1-517EF9870ACD}" type="pres">
      <dgm:prSet presAssocID="{FB06A9D7-B6DA-4EAB-A3D4-D276750D700F}" presName="circ1" presStyleLbl="vennNode1" presStyleIdx="0" presStyleCnt="3"/>
      <dgm:spPr/>
    </dgm:pt>
    <dgm:pt modelId="{2CEEBD2D-9A37-4333-AF7A-710F10D5E031}" type="pres">
      <dgm:prSet presAssocID="{FB06A9D7-B6DA-4EAB-A3D4-D276750D700F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001549F-6C25-492D-A393-7383CB8979E5}" type="pres">
      <dgm:prSet presAssocID="{3A42462B-6528-4435-863D-862B1FF416C0}" presName="circ2" presStyleLbl="vennNode1" presStyleIdx="1" presStyleCnt="3"/>
      <dgm:spPr/>
    </dgm:pt>
    <dgm:pt modelId="{9EC7112D-21AE-49B8-89B8-9036991B8846}" type="pres">
      <dgm:prSet presAssocID="{3A42462B-6528-4435-863D-862B1FF416C0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DF30C2B5-3CAF-4AF6-8A6B-BE13D2761BD6}" type="pres">
      <dgm:prSet presAssocID="{B8B18293-A857-4E1D-874A-B63C13713A3D}" presName="circ3" presStyleLbl="vennNode1" presStyleIdx="2" presStyleCnt="3"/>
      <dgm:spPr/>
    </dgm:pt>
    <dgm:pt modelId="{27029EE3-74E6-4BDE-AD9F-D3A412EF2292}" type="pres">
      <dgm:prSet presAssocID="{B8B18293-A857-4E1D-874A-B63C13713A3D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0948280B-A89C-42AD-849C-E34AD6973679}" type="presOf" srcId="{FB06A9D7-B6DA-4EAB-A3D4-D276750D700F}" destId="{2CEEBD2D-9A37-4333-AF7A-710F10D5E031}" srcOrd="1" destOrd="0" presId="urn:microsoft.com/office/officeart/2005/8/layout/venn1"/>
    <dgm:cxn modelId="{8837B41B-7B54-4A4A-B2F6-38FADC2CFD5F}" srcId="{0F86D26B-27D9-4B2C-867C-1E753E93583D}" destId="{3A42462B-6528-4435-863D-862B1FF416C0}" srcOrd="1" destOrd="0" parTransId="{BDA1D13E-FB59-476C-9ACC-FD5A38621079}" sibTransId="{8B9B2015-477C-4F0F-9FA0-121C9D1236B1}"/>
    <dgm:cxn modelId="{D1E6C345-20D3-481E-B7D6-581C961A109F}" type="presOf" srcId="{3A42462B-6528-4435-863D-862B1FF416C0}" destId="{9EC7112D-21AE-49B8-89B8-9036991B8846}" srcOrd="1" destOrd="0" presId="urn:microsoft.com/office/officeart/2005/8/layout/venn1"/>
    <dgm:cxn modelId="{142CBE66-8392-44D5-96CA-6ECF1B9F9E4D}" type="presOf" srcId="{B8B18293-A857-4E1D-874A-B63C13713A3D}" destId="{27029EE3-74E6-4BDE-AD9F-D3A412EF2292}" srcOrd="1" destOrd="0" presId="urn:microsoft.com/office/officeart/2005/8/layout/venn1"/>
    <dgm:cxn modelId="{44D8614F-8DCE-416A-8095-9F9F931F36FC}" type="presOf" srcId="{FB06A9D7-B6DA-4EAB-A3D4-D276750D700F}" destId="{9C8C4EE1-F084-4803-A2B1-517EF9870ACD}" srcOrd="0" destOrd="0" presId="urn:microsoft.com/office/officeart/2005/8/layout/venn1"/>
    <dgm:cxn modelId="{8A56975A-B3BE-4F45-B1BB-B80C02B8D550}" type="presOf" srcId="{3A42462B-6528-4435-863D-862B1FF416C0}" destId="{4001549F-6C25-492D-A393-7383CB8979E5}" srcOrd="0" destOrd="0" presId="urn:microsoft.com/office/officeart/2005/8/layout/venn1"/>
    <dgm:cxn modelId="{471037AA-C3D7-460F-9A80-065E1C930FB1}" srcId="{0F86D26B-27D9-4B2C-867C-1E753E93583D}" destId="{B8B18293-A857-4E1D-874A-B63C13713A3D}" srcOrd="2" destOrd="0" parTransId="{87F37711-4E6C-45D8-B2C2-ADBAFC9C71ED}" sibTransId="{06689AFB-71F9-4EA7-9B76-7BCA25A99932}"/>
    <dgm:cxn modelId="{C8AAB1BE-FE00-44F1-9F18-783448456D20}" srcId="{0F86D26B-27D9-4B2C-867C-1E753E93583D}" destId="{FB06A9D7-B6DA-4EAB-A3D4-D276750D700F}" srcOrd="0" destOrd="0" parTransId="{91BE6872-51BA-46EF-91A3-932B04F014CA}" sibTransId="{363B32DC-7CFA-4DAC-85BC-D40D92572E48}"/>
    <dgm:cxn modelId="{38E9B7C3-883B-4A13-ADF7-BC77A5A14C79}" type="presOf" srcId="{0F86D26B-27D9-4B2C-867C-1E753E93583D}" destId="{C34E33BC-8EEF-42C8-8E39-E94F7BD8BD52}" srcOrd="0" destOrd="0" presId="urn:microsoft.com/office/officeart/2005/8/layout/venn1"/>
    <dgm:cxn modelId="{E0CF9BF5-472B-4EBC-A53A-6F027EF0E8CF}" type="presOf" srcId="{B8B18293-A857-4E1D-874A-B63C13713A3D}" destId="{DF30C2B5-3CAF-4AF6-8A6B-BE13D2761BD6}" srcOrd="0" destOrd="0" presId="urn:microsoft.com/office/officeart/2005/8/layout/venn1"/>
    <dgm:cxn modelId="{55DBE97E-436D-415B-812D-50D3261624FB}" type="presParOf" srcId="{C34E33BC-8EEF-42C8-8E39-E94F7BD8BD52}" destId="{9C8C4EE1-F084-4803-A2B1-517EF9870ACD}" srcOrd="0" destOrd="0" presId="urn:microsoft.com/office/officeart/2005/8/layout/venn1"/>
    <dgm:cxn modelId="{342DD4E0-9364-4741-8B4A-B7D529AF3D20}" type="presParOf" srcId="{C34E33BC-8EEF-42C8-8E39-E94F7BD8BD52}" destId="{2CEEBD2D-9A37-4333-AF7A-710F10D5E031}" srcOrd="1" destOrd="0" presId="urn:microsoft.com/office/officeart/2005/8/layout/venn1"/>
    <dgm:cxn modelId="{0E9659EF-C574-4AF3-BBA1-D5E035689473}" type="presParOf" srcId="{C34E33BC-8EEF-42C8-8E39-E94F7BD8BD52}" destId="{4001549F-6C25-492D-A393-7383CB8979E5}" srcOrd="2" destOrd="0" presId="urn:microsoft.com/office/officeart/2005/8/layout/venn1"/>
    <dgm:cxn modelId="{59F189DB-3BB2-4C87-AAA3-CA9826DF5EBA}" type="presParOf" srcId="{C34E33BC-8EEF-42C8-8E39-E94F7BD8BD52}" destId="{9EC7112D-21AE-49B8-89B8-9036991B8846}" srcOrd="3" destOrd="0" presId="urn:microsoft.com/office/officeart/2005/8/layout/venn1"/>
    <dgm:cxn modelId="{F7BF2B91-B529-41C3-945F-5FFD02E0E53F}" type="presParOf" srcId="{C34E33BC-8EEF-42C8-8E39-E94F7BD8BD52}" destId="{DF30C2B5-3CAF-4AF6-8A6B-BE13D2761BD6}" srcOrd="4" destOrd="0" presId="urn:microsoft.com/office/officeart/2005/8/layout/venn1"/>
    <dgm:cxn modelId="{2801BA55-63E3-4D16-99FB-3543E959E0EA}" type="presParOf" srcId="{C34E33BC-8EEF-42C8-8E39-E94F7BD8BD52}" destId="{27029EE3-74E6-4BDE-AD9F-D3A412EF2292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B749BB-DFD2-4F24-9D00-8B5ED94028AC}">
      <dsp:nvSpPr>
        <dsp:cNvPr id="0" name=""/>
        <dsp:cNvSpPr/>
      </dsp:nvSpPr>
      <dsp:spPr>
        <a:xfrm>
          <a:off x="1894" y="693340"/>
          <a:ext cx="1656545" cy="1656545"/>
        </a:xfrm>
        <a:prstGeom prst="ellipse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91165" tIns="15240" rIns="91165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1" u="sng" kern="1200" dirty="0"/>
            <a:t>User Authentication &amp; attendee Service </a:t>
          </a:r>
          <a:endParaRPr lang="en-US" sz="1200" kern="1200" dirty="0"/>
        </a:p>
      </dsp:txBody>
      <dsp:txXfrm>
        <a:off x="244489" y="935935"/>
        <a:ext cx="1171355" cy="1171355"/>
      </dsp:txXfrm>
    </dsp:sp>
    <dsp:sp modelId="{57BF12DD-9360-43FE-A609-24B59518939D}">
      <dsp:nvSpPr>
        <dsp:cNvPr id="0" name=""/>
        <dsp:cNvSpPr/>
      </dsp:nvSpPr>
      <dsp:spPr>
        <a:xfrm>
          <a:off x="1327130" y="693340"/>
          <a:ext cx="1656545" cy="1656545"/>
        </a:xfrm>
        <a:prstGeom prst="ellipse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91165" tIns="15240" rIns="91165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1" u="sng" kern="1200" dirty="0"/>
            <a:t>Venue &amp; vendor Management Service</a:t>
          </a:r>
          <a:endParaRPr lang="en-US" sz="1200" kern="1200" dirty="0"/>
        </a:p>
      </dsp:txBody>
      <dsp:txXfrm>
        <a:off x="1569725" y="935935"/>
        <a:ext cx="1171355" cy="1171355"/>
      </dsp:txXfrm>
    </dsp:sp>
    <dsp:sp modelId="{D4E5FB85-25CF-436B-A96D-0963FCD7CACA}">
      <dsp:nvSpPr>
        <dsp:cNvPr id="0" name=""/>
        <dsp:cNvSpPr/>
      </dsp:nvSpPr>
      <dsp:spPr>
        <a:xfrm>
          <a:off x="2652367" y="693340"/>
          <a:ext cx="1656545" cy="1656545"/>
        </a:xfrm>
        <a:prstGeom prst="ellipse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91165" tIns="15240" rIns="91165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1" u="sng" kern="1200" dirty="0"/>
            <a:t>Events &amp; Booking Service</a:t>
          </a:r>
          <a:endParaRPr lang="en-US" sz="1200" kern="1200" dirty="0"/>
        </a:p>
      </dsp:txBody>
      <dsp:txXfrm>
        <a:off x="2894962" y="935935"/>
        <a:ext cx="1171355" cy="11713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8C4EE1-F084-4803-A2B1-517EF9870ACD}">
      <dsp:nvSpPr>
        <dsp:cNvPr id="0" name=""/>
        <dsp:cNvSpPr/>
      </dsp:nvSpPr>
      <dsp:spPr>
        <a:xfrm>
          <a:off x="843917" y="33820"/>
          <a:ext cx="1623373" cy="1623373"/>
        </a:xfrm>
        <a:prstGeom prst="ellipse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1" u="sng" kern="1200" dirty="0"/>
            <a:t>User Authentication &amp; attendee Service </a:t>
          </a:r>
          <a:endParaRPr lang="en-US" sz="1300" kern="1200" dirty="0"/>
        </a:p>
      </dsp:txBody>
      <dsp:txXfrm>
        <a:off x="1060367" y="317910"/>
        <a:ext cx="1190473" cy="730517"/>
      </dsp:txXfrm>
    </dsp:sp>
    <dsp:sp modelId="{4001549F-6C25-492D-A393-7383CB8979E5}">
      <dsp:nvSpPr>
        <dsp:cNvPr id="0" name=""/>
        <dsp:cNvSpPr/>
      </dsp:nvSpPr>
      <dsp:spPr>
        <a:xfrm>
          <a:off x="1429685" y="1048428"/>
          <a:ext cx="1623373" cy="1623373"/>
        </a:xfrm>
        <a:prstGeom prst="ellipse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1" u="sng" kern="1200" dirty="0"/>
            <a:t>Venue &amp; vendor Management Service</a:t>
          </a:r>
          <a:endParaRPr lang="en-US" sz="1300" kern="1200" dirty="0"/>
        </a:p>
      </dsp:txBody>
      <dsp:txXfrm>
        <a:off x="1926166" y="1467799"/>
        <a:ext cx="974023" cy="892855"/>
      </dsp:txXfrm>
    </dsp:sp>
    <dsp:sp modelId="{DF30C2B5-3CAF-4AF6-8A6B-BE13D2761BD6}">
      <dsp:nvSpPr>
        <dsp:cNvPr id="0" name=""/>
        <dsp:cNvSpPr/>
      </dsp:nvSpPr>
      <dsp:spPr>
        <a:xfrm>
          <a:off x="258150" y="1048428"/>
          <a:ext cx="1623373" cy="1623373"/>
        </a:xfrm>
        <a:prstGeom prst="ellipse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1" u="sng" kern="1200" dirty="0"/>
            <a:t>Events &amp; Booking Service</a:t>
          </a:r>
          <a:endParaRPr lang="en-US" sz="1300" kern="1200" dirty="0"/>
        </a:p>
      </dsp:txBody>
      <dsp:txXfrm>
        <a:off x="411018" y="1467799"/>
        <a:ext cx="974023" cy="8928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3/27/2026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45BD8-11AE-9659-D001-946309B39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8B5C44-D76E-4A07-BB10-E37DA7BE48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FEEC4C-F573-0B5C-31D6-8309D041C1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BBF8D5-E996-55DD-2914-517052CFB7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6555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4331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2480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39A7F-AC57-44BA-B443-9514BEE2D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3B1D29-8E8C-E8CD-FBAF-1CE6CE79D4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1EC8AC-1793-8AA6-B686-8B45BD4BAB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6C6CF-FD49-43E4-66FA-961DB4F719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3313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3AAA2-31E4-6375-2767-E1DCF53E0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408C19-892A-D117-3BD5-2EA9DA242F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76AA5B-7BF7-6FEE-5E0C-F2FA522EA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496E30-EB91-EFD0-1D8D-F0E89C0277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9376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5B646-9552-9B3D-513C-458083C9E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863105-3843-CF73-5A2B-EE533F4BBB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5AD4D0-719B-15AF-A4E1-54B74D134D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91E191-78F3-3AAF-3181-916E51E29E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7132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F6815-359D-B439-9B4F-7489CB9F3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FEAB57-E720-60C6-9532-05F4DC9ED8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C28AD9-1D9A-0A68-CC33-08A6A40BBC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DE828D-DF8B-3079-1A39-915B2E129E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747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2A282-E5A0-CAFB-293D-97D60177E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87AECA-DC61-5601-713D-F652AB2E3C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943CE8-49D5-9E7F-F1CB-1116788AF2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7828FC-75D4-53F7-4222-8699CDC44F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8383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5863A-05E9-4E96-985A-573F3E585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5AADDD-4CCA-49C8-614F-74E1E742B9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9AA325-E008-0F81-B40A-E588E838E8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49988D-5474-83FB-2F3D-4FA2ED415F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1514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7777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2331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0491C-2901-D26C-98D5-0996A746B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528B9-6204-C3FB-E80D-0E86955CB4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BE14A1-CA94-8550-D2DF-11B2A29AA3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9CFEA-A686-9B4F-5AD9-C0CF159E83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2690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9B107-4B06-567C-5FDB-7BEA6E84B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A54D4B-8E90-8951-0A40-DB741D9C90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4F9A75-0B57-C2B9-DF9C-DC17BFB27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681B3B-6044-87D1-9C17-C958B1C59A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3543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69AB3-12F7-2CAF-9E3C-975DC0D09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AAA0A8-4534-3B69-3563-80EEC8CCFD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41E15-5E5D-04BC-EC7B-41EF382A24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F69CC-B50B-9880-F76E-B2F0D80AF1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8648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1604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5968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46A82-4EB6-1F62-0FC2-9B77ADF7A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856725-229C-332A-F3A1-552F626D97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3A42C8-356C-DDD2-46F6-19B37D58A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2A7E5E-7EB0-9BF0-2029-B8397C98EA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6286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ohamTheG/EventZen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/>
              <a:t>EventZen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7B9D15B-4925-DB3A-B0CE-A82166C49E0F}"/>
              </a:ext>
            </a:extLst>
          </p:cNvPr>
          <p:cNvSpPr txBox="1">
            <a:spLocks/>
          </p:cNvSpPr>
          <p:nvPr/>
        </p:nvSpPr>
        <p:spPr>
          <a:xfrm>
            <a:off x="6309904" y="1630867"/>
            <a:ext cx="5486400" cy="329184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0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0" i="1" dirty="0">
                <a:solidFill>
                  <a:schemeClr val="tx1">
                    <a:lumMod val="65000"/>
                  </a:schemeClr>
                </a:solidFill>
              </a:rPr>
              <a:t>A Modern Event booking platform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91359D-A5FA-7D6E-5515-3D900FFD166C}"/>
              </a:ext>
            </a:extLst>
          </p:cNvPr>
          <p:cNvSpPr txBox="1"/>
          <p:nvPr/>
        </p:nvSpPr>
        <p:spPr>
          <a:xfrm>
            <a:off x="6203514" y="5135649"/>
            <a:ext cx="6093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1" dirty="0">
                <a:solidFill>
                  <a:schemeClr val="tx1">
                    <a:lumMod val="65000"/>
                  </a:schemeClr>
                </a:solidFill>
              </a:rPr>
              <a:t>By Soham Ghodke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127342"/>
            <a:ext cx="4528785" cy="655737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tIns="457200">
            <a:normAutofit/>
          </a:bodyPr>
          <a:lstStyle/>
          <a:p>
            <a:r>
              <a:rPr lang="en-US" dirty="0"/>
              <a:t>Problem Statement</a:t>
            </a:r>
          </a:p>
          <a:p>
            <a:r>
              <a:rPr lang="en-US" dirty="0"/>
              <a:t>Objective</a:t>
            </a:r>
          </a:p>
          <a:p>
            <a:r>
              <a:rPr lang="en-US" dirty="0"/>
              <a:t>Microservices</a:t>
            </a:r>
          </a:p>
          <a:p>
            <a:r>
              <a:rPr lang="en-US" dirty="0"/>
              <a:t>Project Overview</a:t>
            </a:r>
          </a:p>
          <a:p>
            <a:r>
              <a:rPr lang="en-US" dirty="0"/>
              <a:t>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C422E5-B709-7BAC-30DD-CACD06C5A642}"/>
              </a:ext>
            </a:extLst>
          </p:cNvPr>
          <p:cNvSpPr txBox="1"/>
          <p:nvPr/>
        </p:nvSpPr>
        <p:spPr>
          <a:xfrm>
            <a:off x="3046956" y="2831967"/>
            <a:ext cx="60939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Architecture</a:t>
            </a:r>
          </a:p>
          <a:p>
            <a:r>
              <a:rPr lang="en-US" dirty="0"/>
              <a:t>Project Flow</a:t>
            </a:r>
          </a:p>
          <a:p>
            <a:r>
              <a:rPr lang="en-US" dirty="0"/>
              <a:t>Technology and Tools Used</a:t>
            </a:r>
          </a:p>
          <a:p>
            <a:r>
              <a:rPr lang="en-US" dirty="0"/>
              <a:t>Conclusion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23CB29C-50DB-8A3A-536C-DD7585219565}"/>
              </a:ext>
            </a:extLst>
          </p:cNvPr>
          <p:cNvSpPr txBox="1">
            <a:spLocks/>
          </p:cNvSpPr>
          <p:nvPr/>
        </p:nvSpPr>
        <p:spPr>
          <a:xfrm>
            <a:off x="7381875" y="3347817"/>
            <a:ext cx="6093912" cy="3194137"/>
          </a:xfrm>
          <a:prstGeom prst="rect">
            <a:avLst/>
          </a:prstGeom>
        </p:spPr>
        <p:txBody>
          <a:bodyPr vert="horz" lIns="0" tIns="457200" rIns="0" bIns="0" rtlCol="0">
            <a:normAutofit/>
          </a:bodyPr>
          <a:lstStyle>
            <a:lvl1pPr marL="283464" indent="-283464" algn="l" defTabSz="914400" rtl="0" eaLnBrk="1" latinLnBrk="0" hangingPunct="1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Database Schema</a:t>
            </a:r>
          </a:p>
          <a:p>
            <a:r>
              <a:rPr lang="en-US" dirty="0"/>
              <a:t>Application Interface</a:t>
            </a:r>
          </a:p>
          <a:p>
            <a:r>
              <a:rPr lang="en-US" dirty="0"/>
              <a:t>Technology and Tools Used</a:t>
            </a:r>
          </a:p>
          <a:p>
            <a:r>
              <a:rPr lang="en-US" dirty="0"/>
              <a:t>Future scope </a:t>
            </a:r>
          </a:p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2B903-D123-2E37-535F-0C2CF5B43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4F2EA88-0987-C24F-74DB-EB183F0DF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9" y="444933"/>
            <a:ext cx="5477479" cy="3291840"/>
          </a:xfrm>
        </p:spPr>
        <p:txBody>
          <a:bodyPr/>
          <a:lstStyle/>
          <a:p>
            <a:r>
              <a:rPr lang="en-US" dirty="0"/>
              <a:t>Problem Statement:</a:t>
            </a:r>
            <a:br>
              <a:rPr lang="en-US" dirty="0"/>
            </a:br>
            <a:r>
              <a:rPr lang="en-US" dirty="0"/>
              <a:t>Event Management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41FC501-5009-E01D-92AF-481D4D55F19E}"/>
              </a:ext>
            </a:extLst>
          </p:cNvPr>
          <p:cNvSpPr txBox="1">
            <a:spLocks/>
          </p:cNvSpPr>
          <p:nvPr/>
        </p:nvSpPr>
        <p:spPr>
          <a:xfrm>
            <a:off x="405162" y="506570"/>
            <a:ext cx="6788150" cy="3709987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vert="horz" wrap="square" lIns="91440" tIns="45720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4D8E5A-3D90-D2BD-BA3C-CA316CAA9741}"/>
              </a:ext>
            </a:extLst>
          </p:cNvPr>
          <p:cNvSpPr txBox="1"/>
          <p:nvPr/>
        </p:nvSpPr>
        <p:spPr>
          <a:xfrm>
            <a:off x="652812" y="1074509"/>
            <a:ext cx="493014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Complicated sign up processes drive people away from technology. Losing simplicity causes loss in efficiency and increases workload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Integration of multiple facets of management like venues and vendors along with customer management is a great challenge.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For customers, it is neither efficient nor convenient for the booking, attending and managing multiple venues and vendor services manually</a:t>
            </a:r>
          </a:p>
        </p:txBody>
      </p:sp>
    </p:spTree>
    <p:extLst>
      <p:ext uri="{BB962C8B-B14F-4D97-AF65-F5344CB8AC3E}">
        <p14:creationId xmlns:p14="http://schemas.microsoft.com/office/powerpoint/2010/main" val="669013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37279A-330D-886F-340D-494A5005E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9" y="444933"/>
            <a:ext cx="5477479" cy="3291840"/>
          </a:xfrm>
        </p:spPr>
        <p:txBody>
          <a:bodyPr/>
          <a:lstStyle/>
          <a:p>
            <a:r>
              <a:rPr lang="en-US" dirty="0"/>
              <a:t>Problem Statement:</a:t>
            </a:r>
            <a:br>
              <a:rPr lang="en-US" dirty="0"/>
            </a:br>
            <a:r>
              <a:rPr lang="en-US" dirty="0"/>
              <a:t>Architecture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2D51728-69B5-2BE1-592B-26209E5C20CF}"/>
              </a:ext>
            </a:extLst>
          </p:cNvPr>
          <p:cNvSpPr txBox="1">
            <a:spLocks/>
          </p:cNvSpPr>
          <p:nvPr/>
        </p:nvSpPr>
        <p:spPr>
          <a:xfrm>
            <a:off x="405162" y="506570"/>
            <a:ext cx="6788150" cy="3709987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vert="horz" wrap="square" lIns="91440" tIns="45720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FD05FE-C5CB-10D3-985F-6BEE9B69D6EC}"/>
              </a:ext>
            </a:extLst>
          </p:cNvPr>
          <p:cNvSpPr txBox="1"/>
          <p:nvPr/>
        </p:nvSpPr>
        <p:spPr>
          <a:xfrm>
            <a:off x="652812" y="1074509"/>
            <a:ext cx="4930141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The Monolithic Bottleneck: Because all features are "locked" into one giant code block, a single bug in the booking tool can crash the entire login and venue system.</a:t>
            </a:r>
          </a:p>
          <a:p>
            <a:endParaRPr lang="en-IN" sz="2000" dirty="0"/>
          </a:p>
          <a:p>
            <a:r>
              <a:rPr lang="en-IN" sz="2000" dirty="0"/>
              <a:t>Operational Inefficiency: This rigid structure makes the platform slow to update and impossible to scale during high-traffic registration peaks.</a:t>
            </a:r>
          </a:p>
          <a:p>
            <a:endParaRPr lang="en-IN" sz="2000" dirty="0"/>
          </a:p>
          <a:p>
            <a:r>
              <a:rPr lang="en-IN" sz="2000" dirty="0"/>
              <a:t>The Microservices Solution: By decoupling these services, our platform ensures that venue management, user auth, and bookings remain fast, independent, and fail-safe.</a:t>
            </a:r>
          </a:p>
        </p:txBody>
      </p:sp>
    </p:spTree>
    <p:extLst>
      <p:ext uri="{BB962C8B-B14F-4D97-AF65-F5344CB8AC3E}">
        <p14:creationId xmlns:p14="http://schemas.microsoft.com/office/powerpoint/2010/main" val="2249372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8CE60-587E-1D5C-8B50-ED3441BA49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9835" y="430529"/>
            <a:ext cx="5486400" cy="3291840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2AE9C-BA1D-195E-3B93-A5A0CC03D8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8082" y="693575"/>
            <a:ext cx="5661766" cy="5687626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Create a Modern Platform: To provide seamless service for event management that implements security, reliability and scalable functionality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Resilient Infrastructure: To implement a secure, microservices-based architecture that improves fault tolerance, scalability and provides a consistent experience for all end-users.</a:t>
            </a:r>
          </a:p>
        </p:txBody>
      </p:sp>
    </p:spTree>
    <p:extLst>
      <p:ext uri="{BB962C8B-B14F-4D97-AF65-F5344CB8AC3E}">
        <p14:creationId xmlns:p14="http://schemas.microsoft.com/office/powerpoint/2010/main" val="1440871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/>
              <a:t>Project Overview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B984221-988A-0451-BDEA-6285337D5F5C}"/>
              </a:ext>
            </a:extLst>
          </p:cNvPr>
          <p:cNvGrpSpPr/>
          <p:nvPr/>
        </p:nvGrpSpPr>
        <p:grpSpPr>
          <a:xfrm>
            <a:off x="1575208" y="3718459"/>
            <a:ext cx="1136316" cy="789747"/>
            <a:chOff x="3340101" y="0"/>
            <a:chExt cx="1116993" cy="740638"/>
          </a:xfrm>
          <a:solidFill>
            <a:srgbClr val="92D050"/>
          </a:solidFill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FB80B75-85D9-699D-7691-A5A9D3E8EF70}"/>
                </a:ext>
              </a:extLst>
            </p:cNvPr>
            <p:cNvSpPr/>
            <p:nvPr/>
          </p:nvSpPr>
          <p:spPr>
            <a:xfrm>
              <a:off x="3340101" y="0"/>
              <a:ext cx="1116993" cy="740638"/>
            </a:xfrm>
            <a:prstGeom prst="ellipse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Oval 4">
              <a:extLst>
                <a:ext uri="{FF2B5EF4-FFF2-40B4-BE49-F238E27FC236}">
                  <a16:creationId xmlns:a16="http://schemas.microsoft.com/office/drawing/2014/main" id="{ABD6931A-A66D-21F3-3816-FFC61D2BBA14}"/>
                </a:ext>
              </a:extLst>
            </p:cNvPr>
            <p:cNvSpPr txBox="1"/>
            <p:nvPr/>
          </p:nvSpPr>
          <p:spPr>
            <a:xfrm>
              <a:off x="3503681" y="108464"/>
              <a:ext cx="789833" cy="52371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kern="1200" dirty="0"/>
                <a:t>Home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D658BAB-8F81-D6F6-5822-D4B75EA1F8EF}"/>
              </a:ext>
            </a:extLst>
          </p:cNvPr>
          <p:cNvGrpSpPr/>
          <p:nvPr/>
        </p:nvGrpSpPr>
        <p:grpSpPr>
          <a:xfrm>
            <a:off x="3457348" y="2700569"/>
            <a:ext cx="1136316" cy="789747"/>
            <a:chOff x="3340101" y="0"/>
            <a:chExt cx="1116993" cy="740638"/>
          </a:xfrm>
          <a:solidFill>
            <a:srgbClr val="FF0000"/>
          </a:soli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AC7E4EC-067A-D9B0-F75B-72DCD8C16AA3}"/>
                </a:ext>
              </a:extLst>
            </p:cNvPr>
            <p:cNvSpPr/>
            <p:nvPr/>
          </p:nvSpPr>
          <p:spPr>
            <a:xfrm>
              <a:off x="3340101" y="0"/>
              <a:ext cx="1116993" cy="740638"/>
            </a:xfrm>
            <a:prstGeom prst="ellipse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4">
              <a:extLst>
                <a:ext uri="{FF2B5EF4-FFF2-40B4-BE49-F238E27FC236}">
                  <a16:creationId xmlns:a16="http://schemas.microsoft.com/office/drawing/2014/main" id="{8B1CBDB0-BE13-4B54-AC46-7FCA5456B9EB}"/>
                </a:ext>
              </a:extLst>
            </p:cNvPr>
            <p:cNvSpPr txBox="1"/>
            <p:nvPr/>
          </p:nvSpPr>
          <p:spPr>
            <a:xfrm>
              <a:off x="3503681" y="108464"/>
              <a:ext cx="789833" cy="52371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b="0" i="0" kern="1200" dirty="0"/>
                <a:t>Login</a:t>
              </a:r>
              <a:endParaRPr lang="en-US" sz="1500" kern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2AE2F27-7006-652D-94AC-E6422C8C22E1}"/>
              </a:ext>
            </a:extLst>
          </p:cNvPr>
          <p:cNvGrpSpPr/>
          <p:nvPr/>
        </p:nvGrpSpPr>
        <p:grpSpPr>
          <a:xfrm>
            <a:off x="3529738" y="3718459"/>
            <a:ext cx="1136316" cy="789747"/>
            <a:chOff x="3340101" y="0"/>
            <a:chExt cx="1116993" cy="740638"/>
          </a:xfrm>
          <a:solidFill>
            <a:srgbClr val="FF0000"/>
          </a:solidFill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BEFB0C8-FD48-2ED3-0D5A-273ADDEE948A}"/>
                </a:ext>
              </a:extLst>
            </p:cNvPr>
            <p:cNvSpPr/>
            <p:nvPr/>
          </p:nvSpPr>
          <p:spPr>
            <a:xfrm>
              <a:off x="3340101" y="0"/>
              <a:ext cx="1116993" cy="740638"/>
            </a:xfrm>
            <a:prstGeom prst="ellipse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4">
              <a:extLst>
                <a:ext uri="{FF2B5EF4-FFF2-40B4-BE49-F238E27FC236}">
                  <a16:creationId xmlns:a16="http://schemas.microsoft.com/office/drawing/2014/main" id="{1D9C70D6-3CA2-BA4E-AB39-427688593D47}"/>
                </a:ext>
              </a:extLst>
            </p:cNvPr>
            <p:cNvSpPr txBox="1"/>
            <p:nvPr/>
          </p:nvSpPr>
          <p:spPr>
            <a:xfrm>
              <a:off x="3503681" y="108464"/>
              <a:ext cx="789833" cy="52371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kern="1200" dirty="0"/>
                <a:t>View Events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CE25649-E308-DBB5-805D-D7FAC51D23F9}"/>
              </a:ext>
            </a:extLst>
          </p:cNvPr>
          <p:cNvGrpSpPr/>
          <p:nvPr/>
        </p:nvGrpSpPr>
        <p:grpSpPr>
          <a:xfrm>
            <a:off x="3529738" y="4627885"/>
            <a:ext cx="1136316" cy="789747"/>
            <a:chOff x="3340101" y="0"/>
            <a:chExt cx="1116993" cy="740638"/>
          </a:xfrm>
          <a:solidFill>
            <a:srgbClr val="FF0000"/>
          </a:solidFill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51EFB48-58E1-DD60-207B-4902B3E9E003}"/>
                </a:ext>
              </a:extLst>
            </p:cNvPr>
            <p:cNvSpPr/>
            <p:nvPr/>
          </p:nvSpPr>
          <p:spPr>
            <a:xfrm>
              <a:off x="3340101" y="0"/>
              <a:ext cx="1116993" cy="740638"/>
            </a:xfrm>
            <a:prstGeom prst="ellipse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4">
              <a:extLst>
                <a:ext uri="{FF2B5EF4-FFF2-40B4-BE49-F238E27FC236}">
                  <a16:creationId xmlns:a16="http://schemas.microsoft.com/office/drawing/2014/main" id="{119821D4-A270-CC08-8855-02DA1388E0A8}"/>
                </a:ext>
              </a:extLst>
            </p:cNvPr>
            <p:cNvSpPr txBox="1"/>
            <p:nvPr/>
          </p:nvSpPr>
          <p:spPr>
            <a:xfrm>
              <a:off x="3503681" y="108464"/>
              <a:ext cx="789833" cy="52371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kern="1200" dirty="0"/>
                <a:t>View </a:t>
              </a:r>
              <a:r>
                <a:rPr lang="en-US" sz="1500" dirty="0"/>
                <a:t>Venues</a:t>
              </a:r>
              <a:endParaRPr lang="en-US" sz="1500" kern="12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594433B-0DF1-A606-D90D-0039B47970FA}"/>
              </a:ext>
            </a:extLst>
          </p:cNvPr>
          <p:cNvGrpSpPr/>
          <p:nvPr/>
        </p:nvGrpSpPr>
        <p:grpSpPr>
          <a:xfrm>
            <a:off x="5411878" y="3385754"/>
            <a:ext cx="1136316" cy="789747"/>
            <a:chOff x="3340101" y="0"/>
            <a:chExt cx="1116993" cy="740638"/>
          </a:xfrm>
          <a:solidFill>
            <a:srgbClr val="00B0F0"/>
          </a:solidFill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75A4C10-53CF-7F48-D8A5-245C344633BF}"/>
                </a:ext>
              </a:extLst>
            </p:cNvPr>
            <p:cNvSpPr/>
            <p:nvPr/>
          </p:nvSpPr>
          <p:spPr>
            <a:xfrm>
              <a:off x="3340101" y="0"/>
              <a:ext cx="1116993" cy="740638"/>
            </a:xfrm>
            <a:prstGeom prst="ellipse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Oval 4">
              <a:extLst>
                <a:ext uri="{FF2B5EF4-FFF2-40B4-BE49-F238E27FC236}">
                  <a16:creationId xmlns:a16="http://schemas.microsoft.com/office/drawing/2014/main" id="{DBC089F1-6F67-E27F-C5A1-5B51F98EA524}"/>
                </a:ext>
              </a:extLst>
            </p:cNvPr>
            <p:cNvSpPr txBox="1"/>
            <p:nvPr/>
          </p:nvSpPr>
          <p:spPr>
            <a:xfrm>
              <a:off x="3503681" y="108464"/>
              <a:ext cx="789833" cy="52371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kern="1200" dirty="0"/>
                <a:t>Admin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0B427D4-406C-AD7F-4ED2-502E49153F7D}"/>
              </a:ext>
            </a:extLst>
          </p:cNvPr>
          <p:cNvGrpSpPr/>
          <p:nvPr/>
        </p:nvGrpSpPr>
        <p:grpSpPr>
          <a:xfrm>
            <a:off x="5411878" y="2344084"/>
            <a:ext cx="1136316" cy="789747"/>
            <a:chOff x="3340101" y="0"/>
            <a:chExt cx="1116993" cy="740638"/>
          </a:xfrm>
          <a:solidFill>
            <a:srgbClr val="00B0F0"/>
          </a:solidFill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1A4D273-8E20-82B7-BBBA-2E6559031BCF}"/>
                </a:ext>
              </a:extLst>
            </p:cNvPr>
            <p:cNvSpPr/>
            <p:nvPr/>
          </p:nvSpPr>
          <p:spPr>
            <a:xfrm>
              <a:off x="3340101" y="0"/>
              <a:ext cx="1116993" cy="740638"/>
            </a:xfrm>
            <a:prstGeom prst="ellipse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Oval 4">
              <a:extLst>
                <a:ext uri="{FF2B5EF4-FFF2-40B4-BE49-F238E27FC236}">
                  <a16:creationId xmlns:a16="http://schemas.microsoft.com/office/drawing/2014/main" id="{F6E7B667-3732-27B8-E078-A492081209B9}"/>
                </a:ext>
              </a:extLst>
            </p:cNvPr>
            <p:cNvSpPr txBox="1"/>
            <p:nvPr/>
          </p:nvSpPr>
          <p:spPr>
            <a:xfrm>
              <a:off x="3445207" y="108464"/>
              <a:ext cx="906780" cy="52371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" tIns="9525" rIns="9525" bIns="9525" numCol="1" spcCol="1270" anchor="ctr" anchorCtr="0">
              <a:noAutofit/>
            </a:bodyPr>
            <a:lstStyle/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kern="1200" dirty="0"/>
                <a:t>User</a:t>
              </a:r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6A1FDA4-E5EB-78B4-3002-65D332025B5F}"/>
              </a:ext>
            </a:extLst>
          </p:cNvPr>
          <p:cNvCxnSpPr>
            <a:stCxn id="11" idx="6"/>
            <a:endCxn id="14" idx="3"/>
          </p:cNvCxnSpPr>
          <p:nvPr/>
        </p:nvCxnSpPr>
        <p:spPr>
          <a:xfrm flipV="1">
            <a:off x="2711524" y="3374660"/>
            <a:ext cx="912234" cy="73867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77C0BFC-2901-A4D1-6E3D-C58F044CBA60}"/>
              </a:ext>
            </a:extLst>
          </p:cNvPr>
          <p:cNvCxnSpPr>
            <a:cxnSpLocks/>
            <a:stCxn id="11" idx="6"/>
            <a:endCxn id="17" idx="2"/>
          </p:cNvCxnSpPr>
          <p:nvPr/>
        </p:nvCxnSpPr>
        <p:spPr>
          <a:xfrm>
            <a:off x="2711524" y="4113333"/>
            <a:ext cx="818214" cy="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02EAC9D-0492-AF32-1A0B-FCABC050ABE4}"/>
              </a:ext>
            </a:extLst>
          </p:cNvPr>
          <p:cNvCxnSpPr>
            <a:cxnSpLocks/>
            <a:stCxn id="11" idx="6"/>
          </p:cNvCxnSpPr>
          <p:nvPr/>
        </p:nvCxnSpPr>
        <p:spPr>
          <a:xfrm>
            <a:off x="2711524" y="4113333"/>
            <a:ext cx="794363" cy="895797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E66BE95-5FFB-C4F8-DFF1-0F81870E50C6}"/>
              </a:ext>
            </a:extLst>
          </p:cNvPr>
          <p:cNvCxnSpPr>
            <a:stCxn id="14" idx="6"/>
            <a:endCxn id="26" idx="2"/>
          </p:cNvCxnSpPr>
          <p:nvPr/>
        </p:nvCxnSpPr>
        <p:spPr>
          <a:xfrm flipV="1">
            <a:off x="4593664" y="2738958"/>
            <a:ext cx="818214" cy="3564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A7B1B98-3F0E-D647-EAEE-9B10B8C0B9C0}"/>
              </a:ext>
            </a:extLst>
          </p:cNvPr>
          <p:cNvCxnSpPr>
            <a:stCxn id="14" idx="6"/>
            <a:endCxn id="23" idx="2"/>
          </p:cNvCxnSpPr>
          <p:nvPr/>
        </p:nvCxnSpPr>
        <p:spPr>
          <a:xfrm>
            <a:off x="4593664" y="3095443"/>
            <a:ext cx="818214" cy="685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18758D9-2F46-C064-8558-ADE148971FF3}"/>
              </a:ext>
            </a:extLst>
          </p:cNvPr>
          <p:cNvCxnSpPr>
            <a:cxnSpLocks/>
          </p:cNvCxnSpPr>
          <p:nvPr/>
        </p:nvCxnSpPr>
        <p:spPr>
          <a:xfrm>
            <a:off x="6365291" y="3249487"/>
            <a:ext cx="5751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AFD0F92-E0AF-B0BE-D9DF-223DB284AC13}"/>
              </a:ext>
            </a:extLst>
          </p:cNvPr>
          <p:cNvCxnSpPr>
            <a:cxnSpLocks/>
          </p:cNvCxnSpPr>
          <p:nvPr/>
        </p:nvCxnSpPr>
        <p:spPr>
          <a:xfrm>
            <a:off x="6365291" y="3393499"/>
            <a:ext cx="575144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08DBE25-CC0F-8006-8E85-2A3D78BB49FE}"/>
              </a:ext>
            </a:extLst>
          </p:cNvPr>
          <p:cNvCxnSpPr>
            <a:cxnSpLocks/>
          </p:cNvCxnSpPr>
          <p:nvPr/>
        </p:nvCxnSpPr>
        <p:spPr>
          <a:xfrm>
            <a:off x="7962387" y="4233869"/>
            <a:ext cx="0" cy="95953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ylinder 37">
            <a:extLst>
              <a:ext uri="{FF2B5EF4-FFF2-40B4-BE49-F238E27FC236}">
                <a16:creationId xmlns:a16="http://schemas.microsoft.com/office/drawing/2014/main" id="{5BAC9733-736C-6E25-BC7A-C8EF0259A394}"/>
              </a:ext>
            </a:extLst>
          </p:cNvPr>
          <p:cNvSpPr/>
          <p:nvPr/>
        </p:nvSpPr>
        <p:spPr>
          <a:xfrm>
            <a:off x="7546079" y="5301976"/>
            <a:ext cx="832616" cy="959516"/>
          </a:xfrm>
          <a:prstGeom prst="can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SQL</a:t>
            </a:r>
          </a:p>
          <a:p>
            <a:pPr algn="ctr"/>
            <a:r>
              <a:rPr lang="en-US" dirty="0"/>
              <a:t>Server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220781E-18D3-BF1F-9699-C73846762BE5}"/>
              </a:ext>
            </a:extLst>
          </p:cNvPr>
          <p:cNvCxnSpPr>
            <a:cxnSpLocks/>
          </p:cNvCxnSpPr>
          <p:nvPr/>
        </p:nvCxnSpPr>
        <p:spPr>
          <a:xfrm flipH="1" flipV="1">
            <a:off x="4701374" y="3406684"/>
            <a:ext cx="9608" cy="62354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B8B9343-35FB-63FC-6275-8F7B4D18298A}"/>
              </a:ext>
            </a:extLst>
          </p:cNvPr>
          <p:cNvCxnSpPr>
            <a:cxnSpLocks/>
          </p:cNvCxnSpPr>
          <p:nvPr/>
        </p:nvCxnSpPr>
        <p:spPr>
          <a:xfrm flipH="1" flipV="1">
            <a:off x="4710982" y="4483600"/>
            <a:ext cx="9608" cy="62354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7BE78F2-CF5E-12C8-ACCB-5EA86A2371F2}"/>
              </a:ext>
            </a:extLst>
          </p:cNvPr>
          <p:cNvCxnSpPr>
            <a:cxnSpLocks/>
          </p:cNvCxnSpPr>
          <p:nvPr/>
        </p:nvCxnSpPr>
        <p:spPr>
          <a:xfrm>
            <a:off x="9320583" y="4259700"/>
            <a:ext cx="0" cy="95953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ylinder 53">
            <a:extLst>
              <a:ext uri="{FF2B5EF4-FFF2-40B4-BE49-F238E27FC236}">
                <a16:creationId xmlns:a16="http://schemas.microsoft.com/office/drawing/2014/main" id="{DF5126D8-3C36-196C-7D76-560B73EF3613}"/>
              </a:ext>
            </a:extLst>
          </p:cNvPr>
          <p:cNvSpPr/>
          <p:nvPr/>
        </p:nvSpPr>
        <p:spPr>
          <a:xfrm>
            <a:off x="8913428" y="5332052"/>
            <a:ext cx="832616" cy="959516"/>
          </a:xfrm>
          <a:prstGeom prst="can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SQL</a:t>
            </a:r>
          </a:p>
          <a:p>
            <a:pPr algn="ctr"/>
            <a:r>
              <a:rPr lang="en-US" dirty="0"/>
              <a:t>Server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0A82130-6DE1-C20E-DC74-CA67BAAD9D6F}"/>
              </a:ext>
            </a:extLst>
          </p:cNvPr>
          <p:cNvCxnSpPr>
            <a:cxnSpLocks/>
          </p:cNvCxnSpPr>
          <p:nvPr/>
        </p:nvCxnSpPr>
        <p:spPr>
          <a:xfrm>
            <a:off x="10823707" y="4259700"/>
            <a:ext cx="0" cy="95953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ylinder 55">
            <a:extLst>
              <a:ext uri="{FF2B5EF4-FFF2-40B4-BE49-F238E27FC236}">
                <a16:creationId xmlns:a16="http://schemas.microsoft.com/office/drawing/2014/main" id="{5A963807-5E07-1D5F-BDF2-2A52B8705E17}"/>
              </a:ext>
            </a:extLst>
          </p:cNvPr>
          <p:cNvSpPr/>
          <p:nvPr/>
        </p:nvSpPr>
        <p:spPr>
          <a:xfrm>
            <a:off x="10407399" y="5327807"/>
            <a:ext cx="832616" cy="959516"/>
          </a:xfrm>
          <a:prstGeom prst="can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SQL</a:t>
            </a:r>
          </a:p>
          <a:p>
            <a:pPr algn="ctr"/>
            <a:r>
              <a:rPr lang="en-US" dirty="0"/>
              <a:t>Server</a:t>
            </a:r>
          </a:p>
        </p:txBody>
      </p:sp>
      <p:graphicFrame>
        <p:nvGraphicFramePr>
          <p:cNvPr id="57" name="Diagram 56">
            <a:extLst>
              <a:ext uri="{FF2B5EF4-FFF2-40B4-BE49-F238E27FC236}">
                <a16:creationId xmlns:a16="http://schemas.microsoft.com/office/drawing/2014/main" id="{A890469D-9230-7E52-CB01-CB0B41C2C4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0271645"/>
              </p:ext>
            </p:extLst>
          </p:nvPr>
        </p:nvGraphicFramePr>
        <p:xfrm>
          <a:off x="7231625" y="1752147"/>
          <a:ext cx="4310807" cy="304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F8CB4-AC0E-DD88-C335-5212CAA61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228E8-CEAB-0496-952B-E3336560A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/>
              <a:t>Sequence diagram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79DFAC3-D405-E916-A3E9-1111A00DDC11}"/>
              </a:ext>
            </a:extLst>
          </p:cNvPr>
          <p:cNvGrpSpPr/>
          <p:nvPr/>
        </p:nvGrpSpPr>
        <p:grpSpPr>
          <a:xfrm>
            <a:off x="1475546" y="2462212"/>
            <a:ext cx="7925630" cy="3905659"/>
            <a:chOff x="1475546" y="2462212"/>
            <a:chExt cx="7925630" cy="390565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A0FAEA5-76AC-D0D8-A92A-59662E0B51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5546" y="2462212"/>
              <a:ext cx="7925630" cy="3905659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50E916C-8FE0-7F43-DF41-6A1D405CB862}"/>
                </a:ext>
              </a:extLst>
            </p:cNvPr>
            <p:cNvSpPr/>
            <p:nvPr/>
          </p:nvSpPr>
          <p:spPr>
            <a:xfrm>
              <a:off x="4448175" y="4672421"/>
              <a:ext cx="1571625" cy="1695450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940617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750A4-0D0C-6F8D-7A5D-8675FD2A1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888D9-4DDE-1691-E6C2-B028C9F13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/>
              <a:t>Sample Wireframe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3D6F8C1-B706-3B04-0297-86BA80DBF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8825" y="2796053"/>
            <a:ext cx="7210425" cy="3309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136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24F1B-909D-A2EE-498A-51E8E8825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EAA768-69CB-6469-236D-B7CA36890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9" y="444933"/>
            <a:ext cx="5477479" cy="3291840"/>
          </a:xfrm>
        </p:spPr>
        <p:txBody>
          <a:bodyPr/>
          <a:lstStyle/>
          <a:p>
            <a:r>
              <a:rPr lang="en-US" dirty="0"/>
              <a:t>Workflow:</a:t>
            </a:r>
            <a:br>
              <a:rPr lang="en-US" dirty="0"/>
            </a:br>
            <a:r>
              <a:rPr lang="en-US" dirty="0"/>
              <a:t>Admin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D048D4E-3498-5C59-8E80-E08C539C994E}"/>
              </a:ext>
            </a:extLst>
          </p:cNvPr>
          <p:cNvSpPr txBox="1">
            <a:spLocks/>
          </p:cNvSpPr>
          <p:nvPr/>
        </p:nvSpPr>
        <p:spPr>
          <a:xfrm>
            <a:off x="405162" y="506570"/>
            <a:ext cx="6788150" cy="3709987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vert="horz" wrap="square" lIns="91440" tIns="45720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BF1283-849F-7598-7642-B2CF6CEE1E4A}"/>
              </a:ext>
            </a:extLst>
          </p:cNvPr>
          <p:cNvSpPr txBox="1"/>
          <p:nvPr/>
        </p:nvSpPr>
        <p:spPr>
          <a:xfrm>
            <a:off x="405160" y="1166842"/>
            <a:ext cx="5477478" cy="5010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Admin can: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See overall analytics through dashboard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Can check all users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Check attendees for each events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Manage Venues and Vendors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Accept and reject booking requests for particular venues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Edit profile</a:t>
            </a:r>
          </a:p>
        </p:txBody>
      </p:sp>
    </p:spTree>
    <p:extLst>
      <p:ext uri="{BB962C8B-B14F-4D97-AF65-F5344CB8AC3E}">
        <p14:creationId xmlns:p14="http://schemas.microsoft.com/office/powerpoint/2010/main" val="3116093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07953-9DED-4743-A7EF-7EB2B8E86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DD69A1-EC23-5D69-5912-BFEE6D250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9" y="444933"/>
            <a:ext cx="5477479" cy="3291840"/>
          </a:xfrm>
        </p:spPr>
        <p:txBody>
          <a:bodyPr/>
          <a:lstStyle/>
          <a:p>
            <a:r>
              <a:rPr lang="en-US" dirty="0"/>
              <a:t>Workflow:</a:t>
            </a:r>
            <a:br>
              <a:rPr lang="en-US" dirty="0"/>
            </a:br>
            <a:r>
              <a:rPr lang="en-US" dirty="0"/>
              <a:t>Customer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D3B237B-91FC-5979-51E8-EA5892518754}"/>
              </a:ext>
            </a:extLst>
          </p:cNvPr>
          <p:cNvSpPr txBox="1">
            <a:spLocks/>
          </p:cNvSpPr>
          <p:nvPr/>
        </p:nvSpPr>
        <p:spPr>
          <a:xfrm>
            <a:off x="405162" y="506570"/>
            <a:ext cx="6788150" cy="3709987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vert="horz" wrap="square" lIns="91440" tIns="45720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172166-E177-3D89-040D-E6DF085D4AF9}"/>
              </a:ext>
            </a:extLst>
          </p:cNvPr>
          <p:cNvSpPr txBox="1"/>
          <p:nvPr/>
        </p:nvSpPr>
        <p:spPr>
          <a:xfrm>
            <a:off x="405164" y="646700"/>
            <a:ext cx="5477478" cy="611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Customer can: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See overall analytics through dashboard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Can see all the approved public events and participate in them as attendees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Can check venues and vendors and request for their own events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See all the bookings for events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Edit profile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7003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19" y="453604"/>
            <a:ext cx="10873740" cy="1680205"/>
          </a:xfrm>
        </p:spPr>
        <p:txBody>
          <a:bodyPr/>
          <a:lstStyle/>
          <a:p>
            <a:r>
              <a:rPr lang="en-US" dirty="0"/>
              <a:t>Microservices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58434" y="0"/>
            <a:ext cx="8133566" cy="6858000"/>
          </a:xfrm>
        </p:spPr>
        <p:txBody>
          <a:bodyPr>
            <a:normAutofit/>
          </a:bodyPr>
          <a:lstStyle/>
          <a:p>
            <a:pPr marL="0" indent="0"/>
            <a:r>
              <a:rPr lang="en-US" sz="2400" b="1" i="1" u="sng" dirty="0"/>
              <a:t>Why Microservices?</a:t>
            </a:r>
          </a:p>
          <a:p>
            <a:pPr marL="0" indent="0">
              <a:buNone/>
            </a:pPr>
            <a:r>
              <a:rPr lang="en-US" sz="2400" dirty="0"/>
              <a:t>Ensure independent scalability and fault isolation, allowing each business function to evolve without risking the entire system's stability.</a:t>
            </a:r>
          </a:p>
          <a:p>
            <a:pPr marL="0" indent="0"/>
            <a:r>
              <a:rPr lang="en-US" sz="2400" b="1" i="1" u="sng" dirty="0"/>
              <a:t>User Authentication &amp; attendee Service (Service 1)</a:t>
            </a:r>
          </a:p>
          <a:p>
            <a:pPr marL="0" indent="0">
              <a:buNone/>
            </a:pPr>
            <a:r>
              <a:rPr lang="en-US" sz="2400" dirty="0"/>
              <a:t>Handles the core Auth flow (Register/Login), User Profile CRUD, and the administrative tracking of Event Attendees.</a:t>
            </a:r>
          </a:p>
          <a:p>
            <a:pPr marL="0" indent="0">
              <a:buNone/>
            </a:pPr>
            <a:r>
              <a:rPr lang="en-US" sz="2400" b="1" i="1" u="sng" dirty="0"/>
              <a:t>Venue &amp; vendor Management Service (Service 2)</a:t>
            </a:r>
          </a:p>
          <a:p>
            <a:pPr marL="0" indent="0">
              <a:buNone/>
            </a:pPr>
            <a:r>
              <a:rPr lang="en-US" sz="2400" dirty="0"/>
              <a:t>Manages the lifecycle of venues and vendors, provides customer-facing search filters (location/capacity), and performs real-time availability checks.</a:t>
            </a:r>
          </a:p>
          <a:p>
            <a:pPr marL="0" indent="0">
              <a:buNone/>
            </a:pPr>
            <a:r>
              <a:rPr lang="en-US" sz="2400" b="1" i="1" u="sng" dirty="0"/>
              <a:t>Events &amp; Booking Service (Service 3)</a:t>
            </a:r>
          </a:p>
          <a:p>
            <a:pPr marL="0" indent="0">
              <a:buNone/>
            </a:pPr>
            <a:r>
              <a:rPr lang="en-US" sz="2400" dirty="0"/>
              <a:t>Orchestrates the creation of events and handles the customer booking pipeline, including status tracking (Pending/Approved) and cancellation workflows.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E04F2C4-2E78-9015-8DE6-1CB015120F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0858506"/>
              </p:ext>
            </p:extLst>
          </p:nvPr>
        </p:nvGraphicFramePr>
        <p:xfrm>
          <a:off x="484177" y="2455101"/>
          <a:ext cx="3311209" cy="2705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95077-DF56-97ED-DAEA-43E154C21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A0443-D452-E165-2E8D-5B300D27B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/>
              <a:t>Architectural Diagram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E20D23-DBA1-B263-0F24-2AC905E9DE4E}"/>
              </a:ext>
            </a:extLst>
          </p:cNvPr>
          <p:cNvSpPr/>
          <p:nvPr/>
        </p:nvSpPr>
        <p:spPr>
          <a:xfrm>
            <a:off x="312092" y="3645074"/>
            <a:ext cx="2061158" cy="114073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  <a:p>
            <a:pPr algn="ctr"/>
            <a:r>
              <a:rPr lang="en-US" sz="2000" dirty="0"/>
              <a:t>Front End</a:t>
            </a:r>
          </a:p>
          <a:p>
            <a:pPr algn="ctr"/>
            <a:r>
              <a:rPr lang="en-US" sz="2000" dirty="0"/>
              <a:t>React.js</a:t>
            </a:r>
          </a:p>
          <a:p>
            <a:pPr algn="ctr"/>
            <a:endParaRPr lang="en-US" sz="9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EEBEF4A-FF80-E9BB-4EC4-BC112EDA62A0}"/>
              </a:ext>
            </a:extLst>
          </p:cNvPr>
          <p:cNvGrpSpPr/>
          <p:nvPr/>
        </p:nvGrpSpPr>
        <p:grpSpPr>
          <a:xfrm>
            <a:off x="4250866" y="2212382"/>
            <a:ext cx="3794514" cy="3967673"/>
            <a:chOff x="3395063" y="2231604"/>
            <a:chExt cx="4529093" cy="396767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2BDB432-7BDE-F240-7A72-7FC1375396AD}"/>
                </a:ext>
              </a:extLst>
            </p:cNvPr>
            <p:cNvSpPr/>
            <p:nvPr/>
          </p:nvSpPr>
          <p:spPr>
            <a:xfrm>
              <a:off x="3395063" y="2231604"/>
              <a:ext cx="4529092" cy="1087793"/>
            </a:xfrm>
            <a:custGeom>
              <a:avLst/>
              <a:gdLst>
                <a:gd name="csX0" fmla="*/ 0 w 1357641"/>
                <a:gd name="csY0" fmla="*/ 135764 h 3967673"/>
                <a:gd name="csX1" fmla="*/ 135764 w 1357641"/>
                <a:gd name="csY1" fmla="*/ 0 h 3967673"/>
                <a:gd name="csX2" fmla="*/ 1221877 w 1357641"/>
                <a:gd name="csY2" fmla="*/ 0 h 3967673"/>
                <a:gd name="csX3" fmla="*/ 1357641 w 1357641"/>
                <a:gd name="csY3" fmla="*/ 135764 h 3967673"/>
                <a:gd name="csX4" fmla="*/ 1357641 w 1357641"/>
                <a:gd name="csY4" fmla="*/ 3831909 h 3967673"/>
                <a:gd name="csX5" fmla="*/ 1221877 w 1357641"/>
                <a:gd name="csY5" fmla="*/ 3967673 h 3967673"/>
                <a:gd name="csX6" fmla="*/ 135764 w 1357641"/>
                <a:gd name="csY6" fmla="*/ 3967673 h 3967673"/>
                <a:gd name="csX7" fmla="*/ 0 w 1357641"/>
                <a:gd name="csY7" fmla="*/ 3831909 h 3967673"/>
                <a:gd name="csX8" fmla="*/ 0 w 1357641"/>
                <a:gd name="csY8" fmla="*/ 135764 h 39676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357641" h="3967673">
                  <a:moveTo>
                    <a:pt x="0" y="135764"/>
                  </a:moveTo>
                  <a:cubicBezTo>
                    <a:pt x="0" y="60784"/>
                    <a:pt x="60784" y="0"/>
                    <a:pt x="135764" y="0"/>
                  </a:cubicBezTo>
                  <a:lnTo>
                    <a:pt x="1221877" y="0"/>
                  </a:lnTo>
                  <a:cubicBezTo>
                    <a:pt x="1296857" y="0"/>
                    <a:pt x="1357641" y="60784"/>
                    <a:pt x="1357641" y="135764"/>
                  </a:cubicBezTo>
                  <a:lnTo>
                    <a:pt x="1357641" y="3831909"/>
                  </a:lnTo>
                  <a:cubicBezTo>
                    <a:pt x="1357641" y="3906889"/>
                    <a:pt x="1296857" y="3967673"/>
                    <a:pt x="1221877" y="3967673"/>
                  </a:cubicBezTo>
                  <a:lnTo>
                    <a:pt x="135764" y="3967673"/>
                  </a:lnTo>
                  <a:cubicBezTo>
                    <a:pt x="60784" y="3967673"/>
                    <a:pt x="0" y="3906889"/>
                    <a:pt x="0" y="3831909"/>
                  </a:cubicBezTo>
                  <a:lnTo>
                    <a:pt x="0" y="135764"/>
                  </a:lnTo>
                  <a:close/>
                </a:path>
              </a:pathLst>
            </a:custGeom>
            <a:solidFill>
              <a:srgbClr val="92D05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6914" tIns="96914" rIns="96914" bIns="96914" numCol="1" spcCol="1270" anchor="ctr" anchorCtr="0">
              <a:noAutofit/>
            </a:bodyPr>
            <a:lstStyle/>
            <a:p>
              <a:pPr lvl="0"/>
              <a:r>
                <a:rPr lang="en-US" sz="1600" b="1" i="1" u="sng" dirty="0"/>
                <a:t>User Authentication </a:t>
              </a:r>
            </a:p>
            <a:p>
              <a:pPr lvl="0"/>
              <a:r>
                <a:rPr lang="en-US" sz="1600" b="1" i="1" u="sng" dirty="0"/>
                <a:t>&amp; attendee Service </a:t>
              </a:r>
              <a:endParaRPr lang="en-US" sz="1600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2255383-481B-A4B6-1280-BA9E2919E5CB}"/>
                </a:ext>
              </a:extLst>
            </p:cNvPr>
            <p:cNvSpPr/>
            <p:nvPr/>
          </p:nvSpPr>
          <p:spPr>
            <a:xfrm>
              <a:off x="3395063" y="3429000"/>
              <a:ext cx="4529092" cy="1356809"/>
            </a:xfrm>
            <a:custGeom>
              <a:avLst/>
              <a:gdLst>
                <a:gd name="csX0" fmla="*/ 0 w 1357641"/>
                <a:gd name="csY0" fmla="*/ 135764 h 3967673"/>
                <a:gd name="csX1" fmla="*/ 135764 w 1357641"/>
                <a:gd name="csY1" fmla="*/ 0 h 3967673"/>
                <a:gd name="csX2" fmla="*/ 1221877 w 1357641"/>
                <a:gd name="csY2" fmla="*/ 0 h 3967673"/>
                <a:gd name="csX3" fmla="*/ 1357641 w 1357641"/>
                <a:gd name="csY3" fmla="*/ 135764 h 3967673"/>
                <a:gd name="csX4" fmla="*/ 1357641 w 1357641"/>
                <a:gd name="csY4" fmla="*/ 3831909 h 3967673"/>
                <a:gd name="csX5" fmla="*/ 1221877 w 1357641"/>
                <a:gd name="csY5" fmla="*/ 3967673 h 3967673"/>
                <a:gd name="csX6" fmla="*/ 135764 w 1357641"/>
                <a:gd name="csY6" fmla="*/ 3967673 h 3967673"/>
                <a:gd name="csX7" fmla="*/ 0 w 1357641"/>
                <a:gd name="csY7" fmla="*/ 3831909 h 3967673"/>
                <a:gd name="csX8" fmla="*/ 0 w 1357641"/>
                <a:gd name="csY8" fmla="*/ 135764 h 39676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357641" h="3967673">
                  <a:moveTo>
                    <a:pt x="0" y="135764"/>
                  </a:moveTo>
                  <a:cubicBezTo>
                    <a:pt x="0" y="60784"/>
                    <a:pt x="60784" y="0"/>
                    <a:pt x="135764" y="0"/>
                  </a:cubicBezTo>
                  <a:lnTo>
                    <a:pt x="1221877" y="0"/>
                  </a:lnTo>
                  <a:cubicBezTo>
                    <a:pt x="1296857" y="0"/>
                    <a:pt x="1357641" y="60784"/>
                    <a:pt x="1357641" y="135764"/>
                  </a:cubicBezTo>
                  <a:lnTo>
                    <a:pt x="1357641" y="3831909"/>
                  </a:lnTo>
                  <a:cubicBezTo>
                    <a:pt x="1357641" y="3906889"/>
                    <a:pt x="1296857" y="3967673"/>
                    <a:pt x="1221877" y="3967673"/>
                  </a:cubicBezTo>
                  <a:lnTo>
                    <a:pt x="135764" y="3967673"/>
                  </a:lnTo>
                  <a:cubicBezTo>
                    <a:pt x="60784" y="3967673"/>
                    <a:pt x="0" y="3906889"/>
                    <a:pt x="0" y="3831909"/>
                  </a:cubicBezTo>
                  <a:lnTo>
                    <a:pt x="0" y="135764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6914" tIns="96914" rIns="96914" bIns="96914" numCol="1" spcCol="1270" anchor="ctr" anchorCtr="0">
              <a:noAutofit/>
            </a:bodyPr>
            <a:lstStyle/>
            <a:p>
              <a:pPr lvl="0">
                <a:buNone/>
              </a:pPr>
              <a:r>
                <a:rPr lang="en-US" sz="1600" b="1" i="1" u="sng" dirty="0"/>
                <a:t>Venue &amp; vendor</a:t>
              </a:r>
            </a:p>
            <a:p>
              <a:pPr lvl="0">
                <a:buNone/>
              </a:pPr>
              <a:r>
                <a:rPr lang="en-US" sz="1600" b="1" i="1" u="sng" dirty="0"/>
                <a:t> Management Service</a:t>
              </a:r>
              <a:endParaRPr lang="en-US" sz="1600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C868BC1-8726-B5F3-E411-9FDF60B1C060}"/>
                </a:ext>
              </a:extLst>
            </p:cNvPr>
            <p:cNvSpPr/>
            <p:nvPr/>
          </p:nvSpPr>
          <p:spPr>
            <a:xfrm>
              <a:off x="3395064" y="4895412"/>
              <a:ext cx="4529092" cy="1303865"/>
            </a:xfrm>
            <a:custGeom>
              <a:avLst/>
              <a:gdLst>
                <a:gd name="csX0" fmla="*/ 0 w 1357641"/>
                <a:gd name="csY0" fmla="*/ 135764 h 3967673"/>
                <a:gd name="csX1" fmla="*/ 135764 w 1357641"/>
                <a:gd name="csY1" fmla="*/ 0 h 3967673"/>
                <a:gd name="csX2" fmla="*/ 1221877 w 1357641"/>
                <a:gd name="csY2" fmla="*/ 0 h 3967673"/>
                <a:gd name="csX3" fmla="*/ 1357641 w 1357641"/>
                <a:gd name="csY3" fmla="*/ 135764 h 3967673"/>
                <a:gd name="csX4" fmla="*/ 1357641 w 1357641"/>
                <a:gd name="csY4" fmla="*/ 3831909 h 3967673"/>
                <a:gd name="csX5" fmla="*/ 1221877 w 1357641"/>
                <a:gd name="csY5" fmla="*/ 3967673 h 3967673"/>
                <a:gd name="csX6" fmla="*/ 135764 w 1357641"/>
                <a:gd name="csY6" fmla="*/ 3967673 h 3967673"/>
                <a:gd name="csX7" fmla="*/ 0 w 1357641"/>
                <a:gd name="csY7" fmla="*/ 3831909 h 3967673"/>
                <a:gd name="csX8" fmla="*/ 0 w 1357641"/>
                <a:gd name="csY8" fmla="*/ 135764 h 39676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357641" h="3967673">
                  <a:moveTo>
                    <a:pt x="0" y="135764"/>
                  </a:moveTo>
                  <a:cubicBezTo>
                    <a:pt x="0" y="60784"/>
                    <a:pt x="60784" y="0"/>
                    <a:pt x="135764" y="0"/>
                  </a:cubicBezTo>
                  <a:lnTo>
                    <a:pt x="1221877" y="0"/>
                  </a:lnTo>
                  <a:cubicBezTo>
                    <a:pt x="1296857" y="0"/>
                    <a:pt x="1357641" y="60784"/>
                    <a:pt x="1357641" y="135764"/>
                  </a:cubicBezTo>
                  <a:lnTo>
                    <a:pt x="1357641" y="3831909"/>
                  </a:lnTo>
                  <a:cubicBezTo>
                    <a:pt x="1357641" y="3906889"/>
                    <a:pt x="1296857" y="3967673"/>
                    <a:pt x="1221877" y="3967673"/>
                  </a:cubicBezTo>
                  <a:lnTo>
                    <a:pt x="135764" y="3967673"/>
                  </a:lnTo>
                  <a:cubicBezTo>
                    <a:pt x="60784" y="3967673"/>
                    <a:pt x="0" y="3906889"/>
                    <a:pt x="0" y="3831909"/>
                  </a:cubicBezTo>
                  <a:lnTo>
                    <a:pt x="0" y="135764"/>
                  </a:lnTo>
                  <a:close/>
                </a:path>
              </a:pathLst>
            </a:custGeom>
            <a:solidFill>
              <a:srgbClr val="00B0F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6914" tIns="96914" rIns="96914" bIns="96914" numCol="1" spcCol="1270" anchor="ctr" anchorCtr="0">
              <a:noAutofit/>
            </a:bodyPr>
            <a:lstStyle/>
            <a:p>
              <a:pPr lvl="0">
                <a:buNone/>
              </a:pPr>
              <a:r>
                <a:rPr lang="en-US" sz="1600" b="1" i="1" u="sng" dirty="0"/>
                <a:t>Events &amp; </a:t>
              </a:r>
            </a:p>
            <a:p>
              <a:pPr lvl="0">
                <a:buNone/>
              </a:pPr>
              <a:r>
                <a:rPr lang="en-US" sz="1600" b="1" i="1" u="sng" dirty="0"/>
                <a:t>Booking Service</a:t>
              </a:r>
              <a:endParaRPr lang="en-US" sz="1600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39F8B75-9D96-AC39-6FC8-FC35FAD8ED0F}"/>
              </a:ext>
            </a:extLst>
          </p:cNvPr>
          <p:cNvSpPr txBox="1"/>
          <p:nvPr/>
        </p:nvSpPr>
        <p:spPr>
          <a:xfrm>
            <a:off x="6191902" y="2288199"/>
            <a:ext cx="19343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Attendee services</a:t>
            </a:r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3F988E1-CEE3-DE53-EBC8-B2A0F458A630}"/>
              </a:ext>
            </a:extLst>
          </p:cNvPr>
          <p:cNvSpPr txBox="1"/>
          <p:nvPr/>
        </p:nvSpPr>
        <p:spPr>
          <a:xfrm>
            <a:off x="6348540" y="3510425"/>
            <a:ext cx="17250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Vendor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Venue services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98D286F-0FB8-6071-EF85-F7F9006B1876}"/>
              </a:ext>
            </a:extLst>
          </p:cNvPr>
          <p:cNvSpPr txBox="1"/>
          <p:nvPr/>
        </p:nvSpPr>
        <p:spPr>
          <a:xfrm>
            <a:off x="5991471" y="4946454"/>
            <a:ext cx="18107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Event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Booking services</a:t>
            </a:r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4DEF4C78-1C05-7E9B-E73C-E1C08E5DB241}"/>
              </a:ext>
            </a:extLst>
          </p:cNvPr>
          <p:cNvCxnSpPr>
            <a:cxnSpLocks/>
            <a:stCxn id="3" idx="0"/>
          </p:cNvCxnSpPr>
          <p:nvPr/>
        </p:nvCxnSpPr>
        <p:spPr>
          <a:xfrm rot="5400000" flipH="1" flipV="1">
            <a:off x="2391313" y="1785520"/>
            <a:ext cx="810913" cy="2908196"/>
          </a:xfrm>
          <a:prstGeom prst="bentConnector2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46712ED6-0534-0772-03E6-63577FFDD9D4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2373250" y="4158224"/>
            <a:ext cx="1877615" cy="57218"/>
          </a:xfrm>
          <a:prstGeom prst="bentConnector3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44C1A5B9-F80F-B93C-A614-F90A170E3877}"/>
              </a:ext>
            </a:extLst>
          </p:cNvPr>
          <p:cNvCxnSpPr>
            <a:cxnSpLocks/>
            <a:stCxn id="3" idx="2"/>
          </p:cNvCxnSpPr>
          <p:nvPr/>
        </p:nvCxnSpPr>
        <p:spPr>
          <a:xfrm rot="16200000" flipH="1">
            <a:off x="2425612" y="3702868"/>
            <a:ext cx="742313" cy="2908194"/>
          </a:xfrm>
          <a:prstGeom prst="bentConnector2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F75C3B8D-3706-57B4-1322-3F4850AA1E2A}"/>
              </a:ext>
            </a:extLst>
          </p:cNvPr>
          <p:cNvSpPr txBox="1"/>
          <p:nvPr/>
        </p:nvSpPr>
        <p:spPr>
          <a:xfrm>
            <a:off x="1621688" y="2398733"/>
            <a:ext cx="1503123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GET/POST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7F84A0E-12D4-ADE0-89E8-53C3A30BBD6F}"/>
              </a:ext>
            </a:extLst>
          </p:cNvPr>
          <p:cNvSpPr txBox="1"/>
          <p:nvPr/>
        </p:nvSpPr>
        <p:spPr>
          <a:xfrm>
            <a:off x="1613956" y="2843594"/>
            <a:ext cx="1503123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PUT/DELETE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8E04709-1F2F-9880-4F46-F3C27CBFD557}"/>
              </a:ext>
            </a:extLst>
          </p:cNvPr>
          <p:cNvSpPr txBox="1"/>
          <p:nvPr/>
        </p:nvSpPr>
        <p:spPr>
          <a:xfrm>
            <a:off x="2643499" y="3760739"/>
            <a:ext cx="1503123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GET/POST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DDEA53F-B452-2008-C2B7-D2B8458020B8}"/>
              </a:ext>
            </a:extLst>
          </p:cNvPr>
          <p:cNvSpPr txBox="1"/>
          <p:nvPr/>
        </p:nvSpPr>
        <p:spPr>
          <a:xfrm>
            <a:off x="2635767" y="4205600"/>
            <a:ext cx="1503123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PUT/DELETE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89B0E75-4DF2-F2F6-0B06-9B2EF9709C5D}"/>
              </a:ext>
            </a:extLst>
          </p:cNvPr>
          <p:cNvSpPr txBox="1"/>
          <p:nvPr/>
        </p:nvSpPr>
        <p:spPr>
          <a:xfrm>
            <a:off x="2041341" y="5121026"/>
            <a:ext cx="1503123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GET/POST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729B475-B7F0-725F-1114-39A75C95C74E}"/>
              </a:ext>
            </a:extLst>
          </p:cNvPr>
          <p:cNvSpPr txBox="1"/>
          <p:nvPr/>
        </p:nvSpPr>
        <p:spPr>
          <a:xfrm>
            <a:off x="2033609" y="5565887"/>
            <a:ext cx="1503123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PUT/DELETE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5" name="Cylinder 64">
            <a:extLst>
              <a:ext uri="{FF2B5EF4-FFF2-40B4-BE49-F238E27FC236}">
                <a16:creationId xmlns:a16="http://schemas.microsoft.com/office/drawing/2014/main" id="{DE739AD4-94EC-D0CD-6E56-B9AA416A33A9}"/>
              </a:ext>
            </a:extLst>
          </p:cNvPr>
          <p:cNvSpPr/>
          <p:nvPr/>
        </p:nvSpPr>
        <p:spPr>
          <a:xfrm>
            <a:off x="9785985" y="2384104"/>
            <a:ext cx="1173480" cy="731520"/>
          </a:xfrm>
          <a:prstGeom prst="ca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SQL Database</a:t>
            </a:r>
          </a:p>
        </p:txBody>
      </p:sp>
      <p:sp>
        <p:nvSpPr>
          <p:cNvPr id="72" name="Cylinder 71">
            <a:extLst>
              <a:ext uri="{FF2B5EF4-FFF2-40B4-BE49-F238E27FC236}">
                <a16:creationId xmlns:a16="http://schemas.microsoft.com/office/drawing/2014/main" id="{7D81948E-6091-9754-5143-B56DD57BCA45}"/>
              </a:ext>
            </a:extLst>
          </p:cNvPr>
          <p:cNvSpPr/>
          <p:nvPr/>
        </p:nvSpPr>
        <p:spPr>
          <a:xfrm>
            <a:off x="9785985" y="3792464"/>
            <a:ext cx="1173480" cy="731520"/>
          </a:xfrm>
          <a:prstGeom prst="ca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SQL Database</a:t>
            </a:r>
          </a:p>
        </p:txBody>
      </p:sp>
      <p:sp>
        <p:nvSpPr>
          <p:cNvPr id="73" name="Cylinder 72">
            <a:extLst>
              <a:ext uri="{FF2B5EF4-FFF2-40B4-BE49-F238E27FC236}">
                <a16:creationId xmlns:a16="http://schemas.microsoft.com/office/drawing/2014/main" id="{03EF62E6-2452-3733-C364-7FF41B82C9A7}"/>
              </a:ext>
            </a:extLst>
          </p:cNvPr>
          <p:cNvSpPr/>
          <p:nvPr/>
        </p:nvSpPr>
        <p:spPr>
          <a:xfrm>
            <a:off x="9785985" y="5162362"/>
            <a:ext cx="1173480" cy="731520"/>
          </a:xfrm>
          <a:prstGeom prst="ca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SQL Database</a:t>
            </a:r>
          </a:p>
        </p:txBody>
      </p: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1C2DB564-2203-1E6D-F955-EF88F0CFACC1}"/>
              </a:ext>
            </a:extLst>
          </p:cNvPr>
          <p:cNvCxnSpPr>
            <a:cxnSpLocks/>
            <a:stCxn id="9" idx="3"/>
            <a:endCxn id="65" idx="2"/>
          </p:cNvCxnSpPr>
          <p:nvPr/>
        </p:nvCxnSpPr>
        <p:spPr>
          <a:xfrm>
            <a:off x="8126223" y="2749864"/>
            <a:ext cx="1659762" cy="12700"/>
          </a:xfrm>
          <a:prstGeom prst="bentConnector3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ADDF0E5B-CF31-2384-34D0-F84E2FE8D34C}"/>
              </a:ext>
            </a:extLst>
          </p:cNvPr>
          <p:cNvCxnSpPr>
            <a:cxnSpLocks/>
            <a:stCxn id="36" idx="3"/>
          </p:cNvCxnSpPr>
          <p:nvPr/>
        </p:nvCxnSpPr>
        <p:spPr>
          <a:xfrm>
            <a:off x="8073601" y="4110590"/>
            <a:ext cx="1712384" cy="68197"/>
          </a:xfrm>
          <a:prstGeom prst="bentConnector3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AAD4A1E2-1ABD-BD5F-F413-37B0FD072ECA}"/>
              </a:ext>
            </a:extLst>
          </p:cNvPr>
          <p:cNvCxnSpPr>
            <a:cxnSpLocks/>
          </p:cNvCxnSpPr>
          <p:nvPr/>
        </p:nvCxnSpPr>
        <p:spPr>
          <a:xfrm flipV="1">
            <a:off x="8045379" y="5546619"/>
            <a:ext cx="1740606" cy="19268"/>
          </a:xfrm>
          <a:prstGeom prst="bentConnector3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F4D16EBC-15CE-2F9E-B0C0-D8F163467A6F}"/>
              </a:ext>
            </a:extLst>
          </p:cNvPr>
          <p:cNvSpPr txBox="1"/>
          <p:nvPr/>
        </p:nvSpPr>
        <p:spPr>
          <a:xfrm>
            <a:off x="8200676" y="2333810"/>
            <a:ext cx="1503123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GET/POST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AA797B5-7D4A-1532-CE73-76A31BAC634C}"/>
              </a:ext>
            </a:extLst>
          </p:cNvPr>
          <p:cNvSpPr txBox="1"/>
          <p:nvPr/>
        </p:nvSpPr>
        <p:spPr>
          <a:xfrm>
            <a:off x="8192944" y="2778671"/>
            <a:ext cx="1503123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PUT/DELETE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3403EE8-78C2-41C6-CFC3-04AD1F0AE6B7}"/>
              </a:ext>
            </a:extLst>
          </p:cNvPr>
          <p:cNvSpPr txBox="1"/>
          <p:nvPr/>
        </p:nvSpPr>
        <p:spPr>
          <a:xfrm>
            <a:off x="8208408" y="3650576"/>
            <a:ext cx="1503123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GET/POST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7432587-A109-C844-4225-B42C3B6B69CC}"/>
              </a:ext>
            </a:extLst>
          </p:cNvPr>
          <p:cNvSpPr txBox="1"/>
          <p:nvPr/>
        </p:nvSpPr>
        <p:spPr>
          <a:xfrm>
            <a:off x="8200676" y="4095437"/>
            <a:ext cx="1503123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PUT/DELETE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A590700-3A7E-B779-564C-8024886AD261}"/>
              </a:ext>
            </a:extLst>
          </p:cNvPr>
          <p:cNvSpPr txBox="1"/>
          <p:nvPr/>
        </p:nvSpPr>
        <p:spPr>
          <a:xfrm>
            <a:off x="8216140" y="5141374"/>
            <a:ext cx="1503123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GET/POST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62AD915-3B37-0EA8-7F7F-89E0DFA47987}"/>
              </a:ext>
            </a:extLst>
          </p:cNvPr>
          <p:cNvSpPr txBox="1"/>
          <p:nvPr/>
        </p:nvSpPr>
        <p:spPr>
          <a:xfrm>
            <a:off x="8208408" y="5586235"/>
            <a:ext cx="1503123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PUT/DELETE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6105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9D4E4-FFD7-2142-681F-FC0FF4DFA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D4FAD0-C5A3-F94F-5206-5CC8D5798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6730" y="4771343"/>
            <a:ext cx="7936230" cy="1380760"/>
          </a:xfrm>
        </p:spPr>
        <p:txBody>
          <a:bodyPr anchor="b">
            <a:normAutofit/>
          </a:bodyPr>
          <a:lstStyle/>
          <a:p>
            <a:r>
              <a:rPr lang="en-US" dirty="0"/>
              <a:t>Database Schema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C20F35-AA98-DD01-6F94-1AA8C5083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62" r="1439"/>
          <a:stretch>
            <a:fillRect/>
          </a:stretch>
        </p:blipFill>
        <p:spPr>
          <a:xfrm>
            <a:off x="527762" y="401097"/>
            <a:ext cx="11136476" cy="416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430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AB6D40A-2A0A-AF3D-8CF7-3ECD37765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/>
              <a:t>Application</a:t>
            </a:r>
            <a:br>
              <a:rPr lang="en-US" dirty="0"/>
            </a:br>
            <a:r>
              <a:rPr lang="en-US" dirty="0"/>
              <a:t>Interface</a:t>
            </a:r>
          </a:p>
        </p:txBody>
      </p:sp>
    </p:spTree>
    <p:extLst>
      <p:ext uri="{BB962C8B-B14F-4D97-AF65-F5344CB8AC3E}">
        <p14:creationId xmlns:p14="http://schemas.microsoft.com/office/powerpoint/2010/main" val="20390597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6A9A9A7-F1D2-237D-AC72-E21A286F0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6730" y="4771343"/>
            <a:ext cx="7936230" cy="1380760"/>
          </a:xfrm>
        </p:spPr>
        <p:txBody>
          <a:bodyPr anchor="b">
            <a:normAutofit/>
          </a:bodyPr>
          <a:lstStyle/>
          <a:p>
            <a:r>
              <a:rPr lang="en-US" dirty="0"/>
              <a:t>Main Page and Sign In Page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BDC71E2-D70F-BC2A-D42D-BC1158630A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481" y="125724"/>
            <a:ext cx="8252247" cy="3796033"/>
          </a:xfrm>
          <a:prstGeom prst="rect">
            <a:avLst/>
          </a:prstGeom>
          <a:noFill/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49E254C-EFA0-3A76-DE61-7542150CB9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2111" y="1665691"/>
            <a:ext cx="3849566" cy="379603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276951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34FB1-530F-CE56-97FB-FFB840CE7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4E5ACEA-8C3D-E8DB-15AA-2AEE8A0E8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150" y="4642802"/>
            <a:ext cx="3816629" cy="618707"/>
          </a:xfrm>
        </p:spPr>
        <p:txBody>
          <a:bodyPr anchor="b">
            <a:normAutofit/>
          </a:bodyPr>
          <a:lstStyle/>
          <a:p>
            <a:r>
              <a:rPr lang="en-US" dirty="0"/>
              <a:t>Admin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05CB23-32A1-564E-E0D0-BAFDBC2967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285" y="135061"/>
            <a:ext cx="7936231" cy="4509918"/>
          </a:xfrm>
          <a:prstGeom prst="rect">
            <a:avLst/>
          </a:prstGeom>
          <a:noFill/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AB4C61-C717-A6CF-7280-6345FF9B9B86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524" y="1665860"/>
            <a:ext cx="4358489" cy="29957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itle 5">
            <a:extLst>
              <a:ext uri="{FF2B5EF4-FFF2-40B4-BE49-F238E27FC236}">
                <a16:creationId xmlns:a16="http://schemas.microsoft.com/office/drawing/2014/main" id="{F7047BC8-27B7-7D46-0818-9C06A731D4F9}"/>
              </a:ext>
            </a:extLst>
          </p:cNvPr>
          <p:cNvSpPr txBox="1">
            <a:spLocks/>
          </p:cNvSpPr>
          <p:nvPr/>
        </p:nvSpPr>
        <p:spPr>
          <a:xfrm>
            <a:off x="10494097" y="4797361"/>
            <a:ext cx="1622746" cy="503981"/>
          </a:xfrm>
          <a:prstGeom prst="rect">
            <a:avLst/>
          </a:prstGeom>
        </p:spPr>
        <p:txBody>
          <a:bodyPr vert="horz" lIns="0" tIns="0" rIns="0" bIns="0" rtlCol="0" anchor="b" anchorCtr="0">
            <a:normAutofit lnSpcReduction="10000"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Users</a:t>
            </a:r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44F4C057-812A-BB00-228D-3A134C711F29}"/>
              </a:ext>
            </a:extLst>
          </p:cNvPr>
          <p:cNvSpPr txBox="1">
            <a:spLocks/>
          </p:cNvSpPr>
          <p:nvPr/>
        </p:nvSpPr>
        <p:spPr>
          <a:xfrm>
            <a:off x="6263321" y="6225682"/>
            <a:ext cx="3589332" cy="502692"/>
          </a:xfrm>
          <a:prstGeom prst="rect">
            <a:avLst/>
          </a:prstGeom>
        </p:spPr>
        <p:txBody>
          <a:bodyPr vert="horz" lIns="0" tIns="0" rIns="0" bIns="0" rtlCol="0" anchor="b" anchorCtr="0">
            <a:normAutofit lnSpcReduction="10000"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Attendees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D4069CB-C88C-45F9-4D95-1F69DDF738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614" y="3481272"/>
            <a:ext cx="3844770" cy="271114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A38477E-6017-FE68-F767-A6314A0CBA05}"/>
              </a:ext>
            </a:extLst>
          </p:cNvPr>
          <p:cNvSpPr/>
          <p:nvPr/>
        </p:nvSpPr>
        <p:spPr>
          <a:xfrm>
            <a:off x="3657600" y="6225682"/>
            <a:ext cx="2271080" cy="234709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6291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5190A-84F8-9F22-EE0F-894FBDA4B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11D9EEE-AB06-3F17-2AE3-5D429E8D62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446" y="89534"/>
            <a:ext cx="9648666" cy="4251328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59A7AF7-88E8-1120-F087-2B6442CF8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150" y="4642802"/>
            <a:ext cx="3816629" cy="618707"/>
          </a:xfrm>
        </p:spPr>
        <p:txBody>
          <a:bodyPr anchor="b">
            <a:noAutofit/>
          </a:bodyPr>
          <a:lstStyle/>
          <a:p>
            <a:r>
              <a:rPr lang="en-US" sz="3600" dirty="0"/>
              <a:t>Venue Management</a:t>
            </a:r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19019181-5FD6-F4FA-7502-74D4C75E358A}"/>
              </a:ext>
            </a:extLst>
          </p:cNvPr>
          <p:cNvSpPr txBox="1">
            <a:spLocks/>
          </p:cNvSpPr>
          <p:nvPr/>
        </p:nvSpPr>
        <p:spPr>
          <a:xfrm>
            <a:off x="9732723" y="4797361"/>
            <a:ext cx="2384120" cy="503981"/>
          </a:xfrm>
          <a:prstGeom prst="rect">
            <a:avLst/>
          </a:prstGeom>
        </p:spPr>
        <p:txBody>
          <a:bodyPr vert="horz" lIns="0" tIns="0" rIns="0" bIns="0" rtlCol="0" anchor="b" anchorCtr="0">
            <a:normAutofit fontScale="55000" lnSpcReduction="20000"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Vendor Management</a:t>
            </a:r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28B18C00-A4A1-1CD0-DCA3-02777D1A3912}"/>
              </a:ext>
            </a:extLst>
          </p:cNvPr>
          <p:cNvSpPr txBox="1">
            <a:spLocks/>
          </p:cNvSpPr>
          <p:nvPr/>
        </p:nvSpPr>
        <p:spPr>
          <a:xfrm>
            <a:off x="5386779" y="5776953"/>
            <a:ext cx="3589332" cy="502692"/>
          </a:xfrm>
          <a:prstGeom prst="rect">
            <a:avLst/>
          </a:prstGeom>
        </p:spPr>
        <p:txBody>
          <a:bodyPr vert="horz" lIns="0" tIns="0" rIns="0" bIns="0" rtlCol="0" anchor="b" anchorCtr="0">
            <a:normAutofit fontScale="77500" lnSpcReduction="20000"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Booking Approval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F4995105-75FE-B8BC-C68F-94DECC62B057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1106" y="2144475"/>
            <a:ext cx="5281017" cy="249832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30BAAEE-02F1-B226-F73C-34937B73F169}"/>
              </a:ext>
            </a:extLst>
          </p:cNvPr>
          <p:cNvSpPr/>
          <p:nvPr/>
        </p:nvSpPr>
        <p:spPr>
          <a:xfrm>
            <a:off x="3657600" y="6225682"/>
            <a:ext cx="2271080" cy="234709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3A035EC-7152-C8BD-210B-EEE895604E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30" b="29941"/>
          <a:stretch>
            <a:fillRect/>
          </a:stretch>
        </p:blipFill>
        <p:spPr>
          <a:xfrm>
            <a:off x="4678478" y="3529972"/>
            <a:ext cx="4828778" cy="22256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091437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078BF-C0CF-5AA6-7AF4-4569292F9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1B763F-EAC0-6AF4-BE3F-FEAF7AA01A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47" y="118566"/>
            <a:ext cx="8602515" cy="4266514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DD10A2DF-C134-45DB-531C-59CC70FFD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150" y="4642802"/>
            <a:ext cx="3816629" cy="618707"/>
          </a:xfrm>
        </p:spPr>
        <p:txBody>
          <a:bodyPr anchor="b">
            <a:noAutofit/>
          </a:bodyPr>
          <a:lstStyle/>
          <a:p>
            <a:r>
              <a:rPr lang="en-US" sz="3600" dirty="0"/>
              <a:t>User Page</a:t>
            </a:r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B0CB6D0C-E55B-1A97-DE98-3A82CD1FD225}"/>
              </a:ext>
            </a:extLst>
          </p:cNvPr>
          <p:cNvSpPr txBox="1">
            <a:spLocks/>
          </p:cNvSpPr>
          <p:nvPr/>
        </p:nvSpPr>
        <p:spPr>
          <a:xfrm>
            <a:off x="9262733" y="1405650"/>
            <a:ext cx="2384120" cy="503981"/>
          </a:xfrm>
          <a:prstGeom prst="rect">
            <a:avLst/>
          </a:prstGeom>
        </p:spPr>
        <p:txBody>
          <a:bodyPr vert="horz" lIns="0" tIns="0" rIns="0" bIns="0" rtlCol="0" anchor="b" anchorCtr="0">
            <a:normAutofit fontScale="55000" lnSpcReduction="20000"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Public</a:t>
            </a:r>
            <a:br>
              <a:rPr lang="en-US" dirty="0"/>
            </a:br>
            <a:r>
              <a:rPr lang="en-US" dirty="0"/>
              <a:t>Events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613ED1-8F3C-1097-C2FD-3AF90ED26E66}"/>
              </a:ext>
            </a:extLst>
          </p:cNvPr>
          <p:cNvSpPr/>
          <p:nvPr/>
        </p:nvSpPr>
        <p:spPr>
          <a:xfrm>
            <a:off x="3657600" y="6225682"/>
            <a:ext cx="2271080" cy="234709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798CBEDB-90A3-93DE-5B56-5E19038938CC}"/>
              </a:ext>
            </a:extLst>
          </p:cNvPr>
          <p:cNvSpPr txBox="1">
            <a:spLocks/>
          </p:cNvSpPr>
          <p:nvPr/>
        </p:nvSpPr>
        <p:spPr>
          <a:xfrm>
            <a:off x="3943104" y="6007694"/>
            <a:ext cx="3589332" cy="502692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 dirty="0"/>
              <a:t>Venues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BE43AD86-B727-CD98-7065-7251645D468E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1445" y="1975061"/>
            <a:ext cx="4841210" cy="24100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FED5AFC-36C0-28F0-1C3D-F304D44D32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9665" y="3259224"/>
            <a:ext cx="3612771" cy="26876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0D84E9D-6DA8-12D6-33CD-D4FAD682F2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097" b="28572"/>
          <a:stretch>
            <a:fillRect/>
          </a:stretch>
        </p:blipFill>
        <p:spPr>
          <a:xfrm>
            <a:off x="7076182" y="4221174"/>
            <a:ext cx="4258032" cy="18896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Title 5">
            <a:extLst>
              <a:ext uri="{FF2B5EF4-FFF2-40B4-BE49-F238E27FC236}">
                <a16:creationId xmlns:a16="http://schemas.microsoft.com/office/drawing/2014/main" id="{9DDBC5C7-81E6-0017-CF58-5CF6A9FFFA11}"/>
              </a:ext>
            </a:extLst>
          </p:cNvPr>
          <p:cNvSpPr txBox="1">
            <a:spLocks/>
          </p:cNvSpPr>
          <p:nvPr/>
        </p:nvSpPr>
        <p:spPr>
          <a:xfrm>
            <a:off x="7076182" y="6249514"/>
            <a:ext cx="3345473" cy="381679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/>
              <a:t>My Bookings</a:t>
            </a:r>
          </a:p>
        </p:txBody>
      </p:sp>
    </p:spTree>
    <p:extLst>
      <p:ext uri="{BB962C8B-B14F-4D97-AF65-F5344CB8AC3E}">
        <p14:creationId xmlns:p14="http://schemas.microsoft.com/office/powerpoint/2010/main" val="33344456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D29B5-1B58-809F-FEA7-B82105E94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8885" y="3499667"/>
            <a:ext cx="4939666" cy="2542810"/>
          </a:xfrm>
        </p:spPr>
        <p:txBody>
          <a:bodyPr/>
          <a:lstStyle/>
          <a:p>
            <a:r>
              <a:rPr lang="en-US" dirty="0"/>
              <a:t>Technologies and Tools used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C3632C-2D2E-7026-33B8-EE42DA4BDB5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947" y="186560"/>
            <a:ext cx="5943053" cy="6239292"/>
          </a:xfrm>
        </p:spPr>
        <p:txBody>
          <a:bodyPr numCol="2">
            <a:noAutofit/>
          </a:bodyPr>
          <a:lstStyle/>
          <a:p>
            <a:pPr>
              <a:buNone/>
            </a:pPr>
            <a:r>
              <a:rPr lang="en-IN" sz="1400" b="1" i="1" u="sng" dirty="0"/>
              <a:t>Frontend (User Interface)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React.js:</a:t>
            </a:r>
            <a:r>
              <a:rPr lang="en-IN" sz="1400" dirty="0"/>
              <a:t> Core library for component-based UI.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Material UI (MUI):</a:t>
            </a:r>
            <a:r>
              <a:rPr lang="en-IN" sz="1400" dirty="0"/>
              <a:t> Professional themed components.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React Router:</a:t>
            </a:r>
            <a:r>
              <a:rPr lang="en-IN" sz="1400" dirty="0"/>
              <a:t> Client-side navigation management.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Fetch:</a:t>
            </a:r>
            <a:r>
              <a:rPr lang="en-IN" sz="1400" dirty="0"/>
              <a:t> Async REST API communication.</a:t>
            </a:r>
          </a:p>
          <a:p>
            <a:pPr>
              <a:buNone/>
            </a:pPr>
            <a:r>
              <a:rPr lang="en-IN" sz="1400" b="1" i="1" u="sng" dirty="0"/>
              <a:t>Backend (Microservices)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Java 17 &amp; Spring Boot:</a:t>
            </a:r>
            <a:r>
              <a:rPr lang="en-IN" sz="1400" dirty="0"/>
              <a:t> Enterprise-grade microservices.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Spring Data JPA:</a:t>
            </a:r>
            <a:r>
              <a:rPr lang="en-IN" sz="1400" dirty="0"/>
              <a:t> Data persistence and ORM.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Spring Security:</a:t>
            </a:r>
            <a:r>
              <a:rPr lang="en-IN" sz="1400" dirty="0"/>
              <a:t> Auth and Role-Based Access Control.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Jackson:</a:t>
            </a:r>
            <a:r>
              <a:rPr lang="en-IN" sz="1400" dirty="0"/>
              <a:t> JSON-to-Java object mapping.</a:t>
            </a:r>
          </a:p>
          <a:p>
            <a:pPr>
              <a:buNone/>
            </a:pPr>
            <a:r>
              <a:rPr lang="en-IN" sz="1400" b="1" i="1" u="sng" dirty="0"/>
              <a:t>Data &amp; Infrastructure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MySQL 8.0:</a:t>
            </a:r>
            <a:r>
              <a:rPr lang="en-IN" sz="1400" dirty="0"/>
              <a:t> Relational database storage.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Maven:</a:t>
            </a:r>
            <a:r>
              <a:rPr lang="en-IN" sz="1400" dirty="0"/>
              <a:t> Dependency and build management.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RESTful APIs:</a:t>
            </a:r>
            <a:r>
              <a:rPr lang="en-IN" sz="1400" dirty="0"/>
              <a:t> Standardized service communication.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Database-per-Service:</a:t>
            </a:r>
            <a:r>
              <a:rPr lang="en-IN" sz="1400" dirty="0"/>
              <a:t> Isolated schemas for scalability.</a:t>
            </a:r>
          </a:p>
          <a:p>
            <a:pPr>
              <a:buNone/>
            </a:pPr>
            <a:r>
              <a:rPr lang="en-IN" sz="1400" b="1" i="1" u="sng" dirty="0"/>
              <a:t>Testing &amp; DevOps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JUnit 5 &amp; Mockito:</a:t>
            </a:r>
            <a:r>
              <a:rPr lang="en-IN" sz="1400" dirty="0"/>
              <a:t> Unit and logic testing.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 err="1"/>
              <a:t>MockMvc</a:t>
            </a:r>
            <a:r>
              <a:rPr lang="en-IN" sz="1400" b="1" dirty="0"/>
              <a:t>:</a:t>
            </a:r>
            <a:r>
              <a:rPr lang="en-IN" sz="1400" dirty="0"/>
              <a:t> API endpoint verification.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b="1" dirty="0"/>
              <a:t>Postman:</a:t>
            </a:r>
            <a:r>
              <a:rPr lang="en-IN" sz="1400" dirty="0"/>
              <a:t> Manual API testing and debugging.</a:t>
            </a:r>
          </a:p>
        </p:txBody>
      </p:sp>
    </p:spTree>
    <p:extLst>
      <p:ext uri="{BB962C8B-B14F-4D97-AF65-F5344CB8AC3E}">
        <p14:creationId xmlns:p14="http://schemas.microsoft.com/office/powerpoint/2010/main" val="30882253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59DC4-8B30-98A0-5BAB-C78BA4A4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/>
          <a:lstStyle/>
          <a:p>
            <a:r>
              <a:rPr lang="en-US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6FB3A-B62C-3DAB-4FD1-B4EBDD650A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3" y="2404997"/>
            <a:ext cx="10765584" cy="3868998"/>
          </a:xfrm>
        </p:spPr>
        <p:txBody>
          <a:bodyPr numCol="2">
            <a:normAutofit fontScale="92500" lnSpcReduction="10000"/>
          </a:bodyPr>
          <a:lstStyle/>
          <a:p>
            <a:r>
              <a:rPr lang="en-US" sz="2600" b="1" i="1" u="sng" dirty="0"/>
              <a:t>Infrastructure &amp; Deployment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Docker &amp; Kubernetes: Containerization for automated scaling and orchestration.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AWS/Azure Cloud: Deployment to global cloud regions for high availability.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CI/CD Pipelines: Automated testing and deployment via Jenkins or GitHub Actions.</a:t>
            </a:r>
          </a:p>
          <a:p>
            <a:endParaRPr lang="en-US" dirty="0"/>
          </a:p>
          <a:p>
            <a:r>
              <a:rPr lang="en-US" sz="2600" b="1" i="1" u="sng" dirty="0"/>
              <a:t>Feature Enhancements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Payment Gateway: Integration with Stripe or </a:t>
            </a:r>
            <a:r>
              <a:rPr lang="en-US" dirty="0" err="1"/>
              <a:t>Razorpay</a:t>
            </a:r>
            <a:r>
              <a:rPr lang="en-US" dirty="0"/>
              <a:t> for secure transactions.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Real-time Notifications: Automated email and SMS alerts via AWS SNS or Twilio.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Analytics Dashboard: Visual data insights for admins using Chart.js or D3.js.</a:t>
            </a:r>
          </a:p>
        </p:txBody>
      </p:sp>
    </p:spTree>
    <p:extLst>
      <p:ext uri="{BB962C8B-B14F-4D97-AF65-F5344CB8AC3E}">
        <p14:creationId xmlns:p14="http://schemas.microsoft.com/office/powerpoint/2010/main" val="18507688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05F49-BCE3-B8BF-2F39-488CACBBB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637ED-65CF-0216-B29B-ACA154967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7537476-9DC5-0239-64FD-2FECCFB6A1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599" y="4211349"/>
            <a:ext cx="8885129" cy="1645920"/>
          </a:xfrm>
        </p:spPr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:-</a:t>
            </a:r>
          </a:p>
          <a:p>
            <a:r>
              <a:rPr lang="en-IN" dirty="0" err="1">
                <a:hlinkClick r:id="rId3"/>
              </a:rPr>
              <a:t>SohamTheG</a:t>
            </a:r>
            <a:r>
              <a:rPr lang="en-IN" dirty="0">
                <a:hlinkClick r:id="rId3"/>
              </a:rPr>
              <a:t>/</a:t>
            </a:r>
            <a:r>
              <a:rPr lang="en-IN" dirty="0" err="1">
                <a:hlinkClick r:id="rId3"/>
              </a:rPr>
              <a:t>EventZen</a:t>
            </a:r>
            <a:r>
              <a:rPr lang="en-IN" dirty="0">
                <a:hlinkClick r:id="rId3"/>
              </a:rPr>
              <a:t>: </a:t>
            </a:r>
            <a:r>
              <a:rPr lang="en-IN" dirty="0" err="1">
                <a:hlinkClick r:id="rId3"/>
              </a:rPr>
              <a:t>EventZen</a:t>
            </a:r>
            <a:r>
              <a:rPr lang="en-IN" dirty="0">
                <a:hlinkClick r:id="rId3"/>
              </a:rPr>
              <a:t> - An event management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1998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734F0-2DDD-AF70-F13D-F9E4C1929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" y="4211349"/>
            <a:ext cx="5486400" cy="1645920"/>
          </a:xfrm>
        </p:spPr>
        <p:txBody>
          <a:bodyPr/>
          <a:lstStyle/>
          <a:p>
            <a:r>
              <a:rPr lang="en-US" dirty="0"/>
              <a:t>Soham Ghodke</a:t>
            </a:r>
          </a:p>
          <a:p>
            <a:r>
              <a:rPr lang="en-US" dirty="0"/>
              <a:t>sohaghodke.ext@deloitte.com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585</TotalTime>
  <Words>860</Words>
  <Application>Microsoft Office PowerPoint</Application>
  <PresentationFormat>Widescreen</PresentationFormat>
  <Paragraphs>185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Franklin Gothic Book</vt:lpstr>
      <vt:lpstr>Franklin Gothic Demi</vt:lpstr>
      <vt:lpstr>Custom</vt:lpstr>
      <vt:lpstr>EventZen</vt:lpstr>
      <vt:lpstr>Outline</vt:lpstr>
      <vt:lpstr>Problem Statement: Event Management</vt:lpstr>
      <vt:lpstr>Problem Statement: Architecture</vt:lpstr>
      <vt:lpstr>Objectives</vt:lpstr>
      <vt:lpstr>Project Overview</vt:lpstr>
      <vt:lpstr>Sequence diagram</vt:lpstr>
      <vt:lpstr>Sample Wireframe</vt:lpstr>
      <vt:lpstr>Workflow: Admin</vt:lpstr>
      <vt:lpstr>Workflow: Customer</vt:lpstr>
      <vt:lpstr>Microservices</vt:lpstr>
      <vt:lpstr>Architectural Diagram</vt:lpstr>
      <vt:lpstr>Database Schema</vt:lpstr>
      <vt:lpstr>Application Interface</vt:lpstr>
      <vt:lpstr>Main Page and Sign In Page</vt:lpstr>
      <vt:lpstr>Admin Page</vt:lpstr>
      <vt:lpstr>Venue Management</vt:lpstr>
      <vt:lpstr>User Page</vt:lpstr>
      <vt:lpstr>Technologies and Tools used</vt:lpstr>
      <vt:lpstr>Future Scope</vt:lpstr>
      <vt:lpstr>Demo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Soham Ghodke</dc:creator>
  <cp:lastModifiedBy>Soham Ghodke</cp:lastModifiedBy>
  <cp:revision>43</cp:revision>
  <dcterms:created xsi:type="dcterms:W3CDTF">2026-03-23T14:07:45Z</dcterms:created>
  <dcterms:modified xsi:type="dcterms:W3CDTF">2026-03-27T10:17:11Z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